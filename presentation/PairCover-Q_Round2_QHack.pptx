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vya: problem" id="{e52b3d57-5daa-d559-b7bc-d12f658ad359}">
          <p14:sldIdLst>
            <p14:sldId id="256"/>
            <p14:sldId id="257"/>
            <p14:sldId id="258"/>
          </p14:sldIdLst>
        </p14:section>
        <p14:section name="Harsha: solution and math" id="{c64033bc-e24e-a42b-ac67-b57403ecf1a9}">
          <p14:sldIdLst>
            <p14:sldId id="259"/>
            <p14:sldId id="260"/>
            <p14:sldId id="261"/>
          </p14:sldIdLst>
        </p14:section>
        <p14:section name="You: demo and results" id="{ae326788-10d3-12bd-e401-d6bdc58ca1cd}">
          <p14:sldIdLst>
            <p14:sldId id="262"/>
            <p14:sldId id="263"/>
            <p14:sldId id="264"/>
          </p14:sldIdLst>
        </p14:section>
        <p14:section name="Jayasuriya: quantum vs classical and impact" id="{c73c9267-a031-aff8-3cf5-5d608164470c}">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  about 0:30
Good morning, everyone. We are Team Evric, in the Quantum Computing and Optimization track, and our team lead is Gautham M A.
Our project is PairCover-Q: quantum-assisted ambulance allocation for optimized emergency response.
I'm Divya, and I will start with the problem. Then Harsha will explain our solution and the mathematics behind it. After that we will show you our working app, our simulation results and our results from real IBM quantum computers. Finally, Jayasuriya will compare real quantum computing with classical computing and talk about the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  about 1:00
Today, most ambulance dispatch follows one simple rule: send the nearest free ambulance to each emergency. For one call at a time, that works.
But look at this example from our app. Two emergencies, C2 and C3, arrive together, and we have three free ambulances. A1 and A2 are backup partners: they cover the same neighbourhood for each other.
The nearest-ambulance rule sends A1 to C2 and A2 to C3. Both partners leave, and their whole area is left with no backup. In our cost model that plan costs 22.
PairCover-Q keeps A2 at home and sends A3 to C3 instead. C3 waits just one minute longer, but the area stays protected. The cost drops to 13. That is 41 percent lower, on the same two calls.
So the problem is not only who is closest. It is how to plan several calls together so that no area is left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  about 0:50
Why does this matter in India? First, policy is moving this way. The 2026 National Ambulance Services guidelines call for integrated command centres, intelligent dispatch and data-driven deployment.
Second, ambulances are scarce. The national norm is one advanced life support ambulance for every 5 lakh people. When a backup is gone, it is hard to replace.
Third, services work against fixed targets. For example, Karnataka's 108 service targets 20 minutes in cities and 30 minutes in rural areas, so every minute counts.
PairCover-Q is decision support for a 108 command centre at exactly the moment several calls arrive together. It recommends who goes where; the dispatcher still decides.
Now Harsha will explain how we 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Harsha  ·  about 0:50
Thank you, Divya. Our idea is to turn dispatch into one optimisation problem for all active calls together, instead of one call at a time.
It works in five steps. One: we take the waiting calls, the free ambulances and the travel times. Two: we build a QUBO, with one yes-or-no variable for every possible ambulance-to-call pair. Each variable becomes one qubit. Three: we build a QAOA circuit in Qiskit. Four: we run it on a simulator, on IBM's noise copy of a real chip, and on real IBM quantum computers. Five: we check every answer against an exact classical solver and against random guessing.
The cost we minimise has three parts: priority-weighted travel time, a penalty if a call is left unserved, and a penalty for coverage lost when ambulances leave their area.
The key point: losing a backup pair is a product of just two yes-or-no variables. That is exactly the form a QUBO accepts, so coverage needs no extra qubits.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Harsha  ·  about 1:10
Here is the exact model in our code. The decision variable x-u-j is 1 if ambulance u goes to call j. We only create variables for useful pairs: the ambulance can arrive within 12 minutes, or it is the nearest one. That keeps the circuit small.
The objective F of x has four terms. First, call priority times travel minutes. Second, a penalty U-j for every call nobody serves. Third, the coverage an ambulance holds on its own, lost if it leaves. Fourth, the shared coverage of a backup pair, lost only if both partners leave. That last term is y-a times y-b, a product of two variables.
The constraints are simple: one call per ambulance and one ambulance per call. A quantum circuit cannot enforce constraints directly, so we move them into the cost as a penalty P.
This gives our QUBO, H of x, with linear terms h-k and pair terms J-k-l. We choose P as the largest possible gain plus one. That is the smallest value that provably makes every minimum a valid plan. We also measured that this tight penalty works better for QAOA than a large one.
Finally, we substitute x equals one minus Z, over two. That turns the QUBO into an Ising Hamiltonian C, which is what the quantum computer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Harsha  ·  about 1:00
Why quantum? Because our problem is already a QUBO, and QAOA, the Quantum Approximate Optimization Algorithm, is the standard algorithm for QUBOs on today's quantum computers.
This is our real circuit for a 4-qubit dispatch problem, drawn by Qiskit. Step one: the H gates put every possible dispatch plan into superposition at once. Step two, the cost layer: RZ and RZZ rotations, whose angles are our QUBO coefficients, write each plan's cost into its phase. There is one RZZ for every pair of coupled choices. Step three, the mixer: RX rotations let the plans interfere, so low-cost plans gain probability.
A classical optimiser, COBYLA, tunes the angles gamma and beta to minimise the expected cost. Then we measure 4,096 times and decode every bitstring back into a dispatch plan. In this circuit, qubit 2 is A3 going to call 1, which is the best plan.
So it is a hybrid: the quantum circuit explores, and classical code builds, tunes and checks. Now my teammate will show it working,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You  ·  about 1:45 (live demo)
Thank you, Harsha. Everything we have described runs in a live web app. Let me show you.
[Click Home, then 'See the decision in one click'.] This runs the nearest-ambulance rule and our exact optimiser on the example Divya showed. You can see the cost go from 22 to 13, and A2 stays home.
[Open Quantum, then Classical vs Quantum, '4 qubits, depth 2'.] This page solves the same problem four ways. The nearest rule and the exact search run live in under a millisecond. QAOA on the simulator runs live too. And these rows are the same circuit run on IBM's real 156-qubit chips. Each row shows the answer, how often it hit the best plan, the gate count and the time.
[Click '6 qubits, depth 2'.] At 6 qubits, look: the nearest rule now picks a worse plan than the exact solver, because it ignores coverage. And the real chip is only around random guessing here. We will come back to that.
[If time allows: Try it, then Create your own emergency.] You can also place your own emergencies on a map and every solver runs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You  ·  about 1:00
Our mentor told us that real hardware results would be our biggest advantage, so we ran them. In total, 9 jobs on two IBM Heron chips with 156 qubits each: ibm_fez and ibm_marrakesh.
This chart shows the strongest problem at each size, from 4 to 10 qubits. Above the dotted line means the chip finds the best dispatch more often than random guessing among valid plans. The dashed line is the noiseless simulator, and the solid line is the real chip.
At 4 qubits the real chip finds the best plan 2.8 times more often than guessing, and the best plan was its most frequent answer in both runs. Even at 10 qubits, with 284 two-qubit gates, it is still 2.7 times better. At 7 and 8 qubits, noise pushes it slightly below guessing.
The noiseless line stays above guessing at every size. So the limit is hardware noise, not our algorithm. We also checked that this is not just a noise bias: the chip beats a noise-only baseline on every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You  ·  about 0:50
One example is not enough, so we also tested the method over time. We built a simulated city, 24 by 24 kilometres, with 7 ambulances and 6 stations, and ran it for 7 days, 30 times at each call load. Every policy saw exactly the same calls.
At 5 calls per hour, mean response time fell by 2.15 minutes compared with nearest-available, with a 95 percent confidence interval of 1.63 to 2.67 minutes. Late arrivals fell by 1.8 points. And uncovered demand fell at all 4 loads we tested.
To be honest about it: most of the response-time gain comes from planning simultaneous calls together, and the coverage term lowers uncovered demand. The city is synthetic; a real pilot would use 108 call logs.
Now Jayasuriya will compare real quantum computing with classical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Jayasuriya  ·  about 1:15
Thank you. Let me be direct about quantum versus classical, because this is where many projects overclaim.
On speed, classical wins today. The exact classical search answers in under a millisecond. The noiseless quantum simulator takes one to four milliseconds. On real IBM hardware, a job took 11 seconds with an empty queue and up to 20 minutes with a busy queue, even though the circuits ran on the chip for only 3 to 5 seconds.
How do we run on the real chip? We transpile our circuit with Qiskit to the chip's native gates. The 4-qubit circuit becomes 33 two-qubit gates on four physical qubits. We submit it through Qiskit Runtime with 4,096 shots, and every job carries calibration circuits for readout errors.
We tried error mitigation. Readout correction added about one point. Dynamical decoupling and twirling did not help. We also saw the same circuit, on the same qubits, go from 28 to 48 percent within two hours, so the chip drifts. That tells us the real limit is two-qubit gate noise.
So we claim no quantum advantage. What we do claim is a complete quantum pipeline, from an emergency to a real IBM chip and back to a correct dispatch decision, with an honest, measured boundary of where it helps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Jayasuriya  ·  about 1:00
What is new in our work? Four things. One: coverage is a pairwise term, so coverage-aware dispatch needs no extra qubits. Two: a penalty that is provably safe and tight. Three: small circuits by design, because only useful pairs get a qubit. Most real decisions need about 2 qubits, and 8 to 12 only when calls coincide. Four: honest validation on two real IBM chips, with repeats, mitigation and baselines.
The impact: faster response by planning calls together, balanced coverage so no area is left empty, and a pipeline that is ready to grow with quantum hardware, because more simultaneous calls means more qubits.
Our roadmap attacks exactly the limit we measured. The real hardware run is done. Next is zero-noise extrapolation for gate noise, an XY mixer to keep samples valid, runs on more chips and more days, and then a pilot with real 108 call logs from Tamil Nadu's research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Jayasuriya  ·  about 0:20
These are our sources, and all our code, reports and hardware results are public on GitHub.
To close: we took ambulance dispatch from a QUBO to a real IBM quantum computer and back to a correct decision, and we measured honestly where quantum helps today.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QHACK_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QHACK_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QHACK_PURP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HACK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HACK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728655" cy="868680"/>
          </a:xfrm>
          <a:prstGeom prst="rect">
            <a:avLst/>
          </a:prstGeom>
          <a:noFill/>
          <a:ln/>
        </p:spPr>
        <p:txBody>
          <a:bodyPr wrap="square" rtlCol="0"/>
          <a:lstStyle>
            <a:lvl1pPr algn="ctr" indent="0" marL="0">
              <a:buNone/>
              <a:defRPr lang="en-US" sz="2500" b="1" dirty="0">
                <a:solidFill>
                  <a:srgbClr val="111111"/>
                </a:solidFill>
                <a:latin typeface="Segoe UI" pitchFamily="34" charset="0"/>
                <a:ea typeface="Segoe UI" pitchFamily="34" charset="-122"/>
                <a:cs typeface="Segoe UI" pitchFamily="34" charset="-120"/>
              </a:defRPr>
            </a:lvl1pPr>
          </a:lstStyle>
          <a:p>
            <a:pPr algn="ctr" indent="0" marL="0">
              <a:buNone/>
            </a:pPr>
            <a:endParaRPr lang="en-US" sz="2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HACK_PURP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tnhsp.org/pages/view/108_Application" TargetMode="External"/><Relationship Id="rId2" Type="http://schemas.openxmlformats.org/officeDocument/2006/relationships/hyperlink" Target="https://quantum.cloud.ibm.com/docs" TargetMode="External"/><Relationship Id="rId3" Type="http://schemas.openxmlformats.org/officeDocument/2006/relationships/hyperlink" Target="https://arxiv.org/abs/1411.4028" TargetMode="External"/><Relationship Id="rId4" Type="http://schemas.openxmlformats.org/officeDocument/2006/relationships/hyperlink" Target="https://arxiv.org/abs/1812.01041" TargetMode="External"/><Relationship Id="rId5" Type="http://schemas.openxmlformats.org/officeDocument/2006/relationships/hyperlink" Target="https://arxiv.org/abs/1302.5843" TargetMode="External"/><Relationship Id="rId6" Type="http://schemas.openxmlformats.org/officeDocument/2006/relationships/hyperlink" Target="https://doi.org/10.1007/s10729-016-9368-0" TargetMode="External"/><Relationship Id="rId7" Type="http://schemas.openxmlformats.org/officeDocument/2006/relationships/hyperlink" Target="https://www.etvbharat.com/en/bharat/national-ambulance-services-guidelines-2026-set-uniform-standards-for-emergency-care-across-india-enn26062906951" TargetMode="External"/><Relationship Id="rId8" Type="http://schemas.openxmlformats.org/officeDocument/2006/relationships/hyperlink" Target="https://mohfw.gov.in/press-info/8546" TargetMode="External"/><Relationship Id="rId9" Type="http://schemas.openxmlformats.org/officeDocument/2006/relationships/hyperlink" Target="https://github.com/gautham-code505/PairCover-Q-" TargetMode="External"/><Relationship Id="rId10" Type="http://schemas.openxmlformats.org/officeDocument/2006/relationships/slideLayout" Target="../slideLayouts/slideLayout4.xml"/><Relationship Id="rId11"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pill"/>
          <p:cNvSpPr/>
          <p:nvPr/>
        </p:nvSpPr>
        <p:spPr>
          <a:xfrm>
            <a:off x="5193792" y="681228"/>
            <a:ext cx="2103120"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5193792" y="681228"/>
            <a:ext cx="2103120"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Problem</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Sending the nearest ambulance can leave a whole area </a:t>
            </a:r>
            <a:pPr algn="ctr" indent="0" marL="0">
              <a:buNone/>
            </a:pPr>
            <a:r>
              <a:rPr lang="en-US" sz="2500" b="1" dirty="0">
                <a:solidFill>
                  <a:srgbClr val="FF66C4"/>
                </a:solidFill>
                <a:latin typeface="Segoe UI" pitchFamily="34" charset="0"/>
                <a:ea typeface="Segoe UI" pitchFamily="34" charset="-122"/>
                <a:cs typeface="Segoe UI" pitchFamily="34" charset="-120"/>
              </a:rPr>
              <a:t>without backup</a:t>
            </a:r>
            <a:endParaRPr lang="en-US" sz="2500" dirty="0"/>
          </a:p>
        </p:txBody>
      </p:sp>
      <p:sp>
        <p:nvSpPr>
          <p:cNvPr id="5" name="problem replay frame"/>
          <p:cNvSpPr/>
          <p:nvPr/>
        </p:nvSpPr>
        <p:spPr>
          <a:xfrm>
            <a:off x="731520" y="2176272"/>
            <a:ext cx="5202936" cy="3972096"/>
          </a:xfrm>
          <a:prstGeom prst="roundRect">
            <a:avLst>
              <a:gd name="adj" fmla="val 2302"/>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6" name="problem replay" descr="Screenshot · our app's coverage replay">    </p:cNvPr>
          <p:cNvPicPr>
            <a:picLocks noChangeAspect="1"/>
          </p:cNvPicPr>
          <p:nvPr/>
        </p:nvPicPr>
        <p:blipFill>
          <a:blip r:embed="rId1"/>
          <a:stretch>
            <a:fillRect/>
          </a:stretch>
        </p:blipFill>
        <p:spPr>
          <a:xfrm>
            <a:off x="795528" y="2240280"/>
            <a:ext cx="5074920" cy="3844080"/>
          </a:xfrm>
          <a:prstGeom prst="rect">
            <a:avLst/>
          </a:prstGeom>
        </p:spPr>
      </p:pic>
      <p:sp>
        <p:nvSpPr>
          <p:cNvPr id="7" name="problem replay tag"/>
          <p:cNvSpPr txBox="1"/>
          <p:nvPr/>
        </p:nvSpPr>
        <p:spPr>
          <a:xfrm>
            <a:off x="795528" y="6194088"/>
            <a:ext cx="5074920"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Screenshot · our app's coverage replay</a:t>
            </a:r>
            <a:endParaRPr lang="en-US" sz="1100" dirty="0"/>
          </a:p>
        </p:txBody>
      </p:sp>
      <p:sp>
        <p:nvSpPr>
          <p:cNvPr id="8" name="nearest value"/>
          <p:cNvSpPr txBox="1"/>
          <p:nvPr/>
        </p:nvSpPr>
        <p:spPr>
          <a:xfrm>
            <a:off x="6309360" y="2103120"/>
            <a:ext cx="2194560" cy="822960"/>
          </a:xfrm>
          <a:prstGeom prst="rect">
            <a:avLst/>
          </a:prstGeom>
          <a:noFill/>
          <a:ln/>
        </p:spPr>
        <p:txBody>
          <a:bodyPr wrap="square" lIns="0" tIns="0" rIns="0" bIns="0" rtlCol="0" anchor="b"/>
          <a:lstStyle/>
          <a:p>
            <a:pPr indent="0" marL="0">
              <a:buNone/>
            </a:pPr>
            <a:r>
              <a:rPr lang="en-US" sz="5400" b="1" dirty="0">
                <a:solidFill>
                  <a:srgbClr val="D62839"/>
                </a:solidFill>
                <a:latin typeface="Segoe UI" pitchFamily="34" charset="0"/>
                <a:ea typeface="Segoe UI" pitchFamily="34" charset="-122"/>
                <a:cs typeface="Segoe UI" pitchFamily="34" charset="-120"/>
              </a:rPr>
              <a:t>22</a:t>
            </a:r>
            <a:endParaRPr lang="en-US" sz="5400" dirty="0"/>
          </a:p>
        </p:txBody>
      </p:sp>
      <p:sp>
        <p:nvSpPr>
          <p:cNvPr id="9" name="nearest label"/>
          <p:cNvSpPr txBox="1"/>
          <p:nvPr/>
        </p:nvSpPr>
        <p:spPr>
          <a:xfrm>
            <a:off x="6309360" y="2971800"/>
            <a:ext cx="2194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Nearest available</a:t>
            </a:r>
            <a:endParaRPr lang="en-US" sz="1500" dirty="0"/>
          </a:p>
        </p:txBody>
      </p:sp>
      <p:sp>
        <p:nvSpPr>
          <p:cNvPr id="10" name="nearest note"/>
          <p:cNvSpPr txBox="1"/>
          <p:nvPr/>
        </p:nvSpPr>
        <p:spPr>
          <a:xfrm>
            <a:off x="6309360" y="3273552"/>
            <a:ext cx="219456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A1 and A2 both leave; their shared area has no backup.</a:t>
            </a:r>
            <a:endParaRPr lang="en-US" sz="1300" dirty="0"/>
          </a:p>
        </p:txBody>
      </p:sp>
      <p:sp>
        <p:nvSpPr>
          <p:cNvPr id="11" name="ours value"/>
          <p:cNvSpPr txBox="1"/>
          <p:nvPr/>
        </p:nvSpPr>
        <p:spPr>
          <a:xfrm>
            <a:off x="8732520" y="2103120"/>
            <a:ext cx="2194560" cy="822960"/>
          </a:xfrm>
          <a:prstGeom prst="rect">
            <a:avLst/>
          </a:prstGeom>
          <a:noFill/>
          <a:ln/>
        </p:spPr>
        <p:txBody>
          <a:bodyPr wrap="square" lIns="0" tIns="0" rIns="0" bIns="0" rtlCol="0" anchor="b"/>
          <a:lstStyle/>
          <a:p>
            <a:pPr indent="0" marL="0">
              <a:buNone/>
            </a:pPr>
            <a:r>
              <a:rPr lang="en-US" sz="5400" b="1" dirty="0">
                <a:solidFill>
                  <a:srgbClr val="0E8A5F"/>
                </a:solidFill>
                <a:latin typeface="Segoe UI" pitchFamily="34" charset="0"/>
                <a:ea typeface="Segoe UI" pitchFamily="34" charset="-122"/>
                <a:cs typeface="Segoe UI" pitchFamily="34" charset="-120"/>
              </a:rPr>
              <a:t>13</a:t>
            </a:r>
            <a:endParaRPr lang="en-US" sz="5400" dirty="0"/>
          </a:p>
        </p:txBody>
      </p:sp>
      <p:sp>
        <p:nvSpPr>
          <p:cNvPr id="12" name="ours label"/>
          <p:cNvSpPr txBox="1"/>
          <p:nvPr/>
        </p:nvSpPr>
        <p:spPr>
          <a:xfrm>
            <a:off x="8732520" y="2971800"/>
            <a:ext cx="2194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PairCover-Q</a:t>
            </a:r>
            <a:endParaRPr lang="en-US" sz="1500" dirty="0"/>
          </a:p>
        </p:txBody>
      </p:sp>
      <p:sp>
        <p:nvSpPr>
          <p:cNvPr id="13" name="ours note"/>
          <p:cNvSpPr txBox="1"/>
          <p:nvPr/>
        </p:nvSpPr>
        <p:spPr>
          <a:xfrm>
            <a:off x="8732520" y="3273552"/>
            <a:ext cx="219456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A2 stays home; C3 waits one minute longer.</a:t>
            </a:r>
            <a:endParaRPr lang="en-US" sz="1300" dirty="0"/>
          </a:p>
        </p:txBody>
      </p:sp>
      <p:sp>
        <p:nvSpPr>
          <p:cNvPr id="14" name="takeaway card"/>
          <p:cNvSpPr/>
          <p:nvPr/>
        </p:nvSpPr>
        <p:spPr>
          <a:xfrm>
            <a:off x="6309360" y="4343400"/>
            <a:ext cx="4663440" cy="1600200"/>
          </a:xfrm>
          <a:prstGeom prst="roundRect">
            <a:avLst>
              <a:gd name="adj" fmla="val 6857"/>
            </a:avLst>
          </a:prstGeom>
          <a:solidFill>
            <a:srgbClr val="F3EEFF"/>
          </a:solidFill>
          <a:ln w="9525">
            <a:solidFill>
              <a:srgbClr val="CFCBDD"/>
            </a:solidFill>
            <a:prstDash val="solid"/>
          </a:ln>
        </p:spPr>
      </p:sp>
      <p:sp>
        <p:nvSpPr>
          <p:cNvPr id="15" name="takeaway text"/>
          <p:cNvSpPr txBox="1"/>
          <p:nvPr/>
        </p:nvSpPr>
        <p:spPr>
          <a:xfrm>
            <a:off x="6537960" y="4480560"/>
            <a:ext cx="4206240" cy="1371600"/>
          </a:xfrm>
          <a:prstGeom prst="rect">
            <a:avLst/>
          </a:prstGeom>
          <a:noFill/>
          <a:ln/>
        </p:spPr>
        <p:txBody>
          <a:bodyPr wrap="square" lIns="0" tIns="0" rIns="0" bIns="0" rtlCol="0" anchor="t"/>
          <a:lstStyle/>
          <a:p>
            <a:pPr indent="0" marL="0">
              <a:spcAft>
                <a:spcPts val="400"/>
              </a:spcAft>
              <a:buNone/>
            </a:pPr>
            <a:r>
              <a:rPr lang="en-US" sz="1900" b="1" dirty="0">
                <a:solidFill>
                  <a:srgbClr val="6D28D9"/>
                </a:solidFill>
                <a:latin typeface="Segoe UI" pitchFamily="34" charset="0"/>
                <a:ea typeface="Segoe UI" pitchFamily="34" charset="-122"/>
                <a:cs typeface="Segoe UI" pitchFamily="34" charset="-120"/>
              </a:rPr>
              <a:t>41% lower cost on the same two calls</a:t>
            </a:r>
            <a:endParaRPr lang="en-US" sz="1900" dirty="0"/>
          </a:p>
          <a:p>
            <a:pPr indent="0" marL="0">
              <a:spcAft>
                <a:spcPts val="400"/>
              </a:spcAft>
              <a:buNone/>
            </a:pPr>
            <a:r>
              <a:rPr lang="en-US" sz="1400" dirty="0">
                <a:solidFill>
                  <a:srgbClr val="111111"/>
                </a:solidFill>
                <a:latin typeface="Segoe UI" pitchFamily="34" charset="0"/>
                <a:ea typeface="Segoe UI" pitchFamily="34" charset="-122"/>
                <a:cs typeface="Segoe UI" pitchFamily="34" charset="-120"/>
              </a:rPr>
              <a:t>Nearest-first dispatch handles one call at a time. When calls coincide it can strip a neighbourhood of every ambulance that covers 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pill"/>
          <p:cNvSpPr/>
          <p:nvPr/>
        </p:nvSpPr>
        <p:spPr>
          <a:xfrm>
            <a:off x="5093208" y="681228"/>
            <a:ext cx="2304288"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5093208" y="681228"/>
            <a:ext cx="2304288"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Why It Matters</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India's ambulance policy now asks for </a:t>
            </a:r>
            <a:pPr algn="ctr" indent="0" marL="0">
              <a:buNone/>
            </a:pPr>
            <a:r>
              <a:rPr lang="en-US" sz="2500" b="1" dirty="0">
                <a:solidFill>
                  <a:srgbClr val="FF66C4"/>
                </a:solidFill>
                <a:latin typeface="Segoe UI" pitchFamily="34" charset="0"/>
                <a:ea typeface="Segoe UI" pitchFamily="34" charset="-122"/>
                <a:cs typeface="Segoe UI" pitchFamily="34" charset="-120"/>
              </a:rPr>
              <a:t>intelligent dispatch</a:t>
            </a:r>
            <a:pPr algn="ctr" indent="0" marL="0">
              <a:buNone/>
            </a:pPr>
            <a:r>
              <a:rPr lang="en-US" sz="2500" b="1" dirty="0">
                <a:solidFill>
                  <a:srgbClr val="111111"/>
                </a:solidFill>
                <a:latin typeface="Segoe UI" pitchFamily="34" charset="0"/>
                <a:ea typeface="Segoe UI" pitchFamily="34" charset="-122"/>
                <a:cs typeface="Segoe UI" pitchFamily="34" charset="-120"/>
              </a:rPr>
              <a:t>, and backups are scarce</a:t>
            </a:r>
            <a:endParaRPr lang="en-US" sz="2500" dirty="0"/>
          </a:p>
        </p:txBody>
      </p:sp>
      <p:sp>
        <p:nvSpPr>
          <p:cNvPr id="5" name="fact 1 value"/>
          <p:cNvSpPr txBox="1"/>
          <p:nvPr/>
        </p:nvSpPr>
        <p:spPr>
          <a:xfrm>
            <a:off x="731520" y="2240280"/>
            <a:ext cx="2926080" cy="640080"/>
          </a:xfrm>
          <a:prstGeom prst="rect">
            <a:avLst/>
          </a:prstGeom>
          <a:noFill/>
          <a:ln/>
        </p:spPr>
        <p:txBody>
          <a:bodyPr wrap="square" lIns="0" tIns="0" rIns="0" bIns="0" rtlCol="0" anchor="ctr"/>
          <a:lstStyle/>
          <a:p>
            <a:pPr indent="0" marL="0">
              <a:buNone/>
            </a:pPr>
            <a:r>
              <a:rPr lang="en-US" sz="2200" b="1" dirty="0">
                <a:solidFill>
                  <a:srgbClr val="6D28D9"/>
                </a:solidFill>
                <a:latin typeface="Segoe UI" pitchFamily="34" charset="0"/>
                <a:ea typeface="Segoe UI" pitchFamily="34" charset="-122"/>
                <a:cs typeface="Segoe UI" pitchFamily="34" charset="-120"/>
              </a:rPr>
              <a:t>Intelligent dispatch</a:t>
            </a:r>
            <a:endParaRPr lang="en-US" sz="2200" dirty="0"/>
          </a:p>
        </p:txBody>
      </p:sp>
      <p:sp>
        <p:nvSpPr>
          <p:cNvPr id="6" name="fact 1 text"/>
          <p:cNvSpPr txBox="1"/>
          <p:nvPr/>
        </p:nvSpPr>
        <p:spPr>
          <a:xfrm>
            <a:off x="3749040" y="2221992"/>
            <a:ext cx="3977640" cy="868680"/>
          </a:xfrm>
          <a:prstGeom prst="rect">
            <a:avLst/>
          </a:prstGeom>
          <a:noFill/>
          <a:ln/>
        </p:spPr>
        <p:txBody>
          <a:bodyPr wrap="square" lIns="0" tIns="0" rIns="0" bIns="0" rtlCol="0" anchor="t"/>
          <a:lstStyle/>
          <a:p>
            <a:pPr indent="0" marL="0">
              <a:buNone/>
            </a:pPr>
            <a:r>
              <a:rPr lang="en-US" sz="1350" dirty="0">
                <a:solidFill>
                  <a:srgbClr val="111111"/>
                </a:solidFill>
                <a:latin typeface="Segoe UI" pitchFamily="34" charset="0"/>
                <a:ea typeface="Segoe UI" pitchFamily="34" charset="-122"/>
                <a:cs typeface="Segoe UI" pitchFamily="34" charset="-120"/>
              </a:rPr>
              <a:t>The 2026 National Ambulance Services guidelines call for integrated command centres, intelligent dispatch and data-driven deployment.</a:t>
            </a:r>
            <a:endParaRPr lang="en-US" sz="1350" dirty="0"/>
          </a:p>
        </p:txBody>
      </p:sp>
      <p:sp>
        <p:nvSpPr>
          <p:cNvPr id="7" name="fact 1 source"/>
          <p:cNvSpPr txBox="1"/>
          <p:nvPr/>
        </p:nvSpPr>
        <p:spPr>
          <a:xfrm>
            <a:off x="3749040" y="3108960"/>
            <a:ext cx="3977640" cy="237744"/>
          </a:xfrm>
          <a:prstGeom prst="rect">
            <a:avLst/>
          </a:prstGeom>
          <a:noFill/>
          <a:ln/>
        </p:spPr>
        <p:txBody>
          <a:bodyPr wrap="square" lIns="0" tIns="0" rIns="0" bIns="0" rtlCol="0" anchor="ctr"/>
          <a:lstStyle/>
          <a:p>
            <a:pPr indent="0" marL="0">
              <a:buNone/>
            </a:pPr>
            <a:r>
              <a:rPr lang="en-US" sz="1000" i="1" dirty="0">
                <a:solidFill>
                  <a:srgbClr val="4A4A5A"/>
                </a:solidFill>
                <a:latin typeface="Segoe UI" pitchFamily="34" charset="0"/>
                <a:ea typeface="Segoe UI" pitchFamily="34" charset="-122"/>
                <a:cs typeface="Segoe UI" pitchFamily="34" charset="-120"/>
              </a:rPr>
              <a:t>Source: ETV Bharat, June 2026 (NAS 2026 guidelines)</a:t>
            </a:r>
            <a:endParaRPr lang="en-US" sz="1000" dirty="0"/>
          </a:p>
        </p:txBody>
      </p:sp>
      <p:sp>
        <p:nvSpPr>
          <p:cNvPr id="8" name="fact 2 value"/>
          <p:cNvSpPr txBox="1"/>
          <p:nvPr/>
        </p:nvSpPr>
        <p:spPr>
          <a:xfrm>
            <a:off x="731520" y="3566160"/>
            <a:ext cx="2926080" cy="640080"/>
          </a:xfrm>
          <a:prstGeom prst="rect">
            <a:avLst/>
          </a:prstGeom>
          <a:noFill/>
          <a:ln/>
        </p:spPr>
        <p:txBody>
          <a:bodyPr wrap="square" lIns="0" tIns="0" rIns="0" bIns="0" rtlCol="0" anchor="ctr"/>
          <a:lstStyle/>
          <a:p>
            <a:pPr indent="0" marL="0">
              <a:buNone/>
            </a:pPr>
            <a:r>
              <a:rPr lang="en-US" sz="3000" b="1" dirty="0">
                <a:solidFill>
                  <a:srgbClr val="6D28D9"/>
                </a:solidFill>
                <a:latin typeface="Segoe UI" pitchFamily="34" charset="0"/>
                <a:ea typeface="Segoe UI" pitchFamily="34" charset="-122"/>
                <a:cs typeface="Segoe UI" pitchFamily="34" charset="-120"/>
              </a:rPr>
              <a:t>1 per 5 lakh</a:t>
            </a:r>
            <a:endParaRPr lang="en-US" sz="3000" dirty="0"/>
          </a:p>
        </p:txBody>
      </p:sp>
      <p:sp>
        <p:nvSpPr>
          <p:cNvPr id="9" name="fact 2 text"/>
          <p:cNvSpPr txBox="1"/>
          <p:nvPr/>
        </p:nvSpPr>
        <p:spPr>
          <a:xfrm>
            <a:off x="3749040" y="3547872"/>
            <a:ext cx="3977640" cy="868680"/>
          </a:xfrm>
          <a:prstGeom prst="rect">
            <a:avLst/>
          </a:prstGeom>
          <a:noFill/>
          <a:ln/>
        </p:spPr>
        <p:txBody>
          <a:bodyPr wrap="square" lIns="0" tIns="0" rIns="0" bIns="0" rtlCol="0" anchor="t"/>
          <a:lstStyle/>
          <a:p>
            <a:pPr indent="0" marL="0">
              <a:buNone/>
            </a:pPr>
            <a:r>
              <a:rPr lang="en-US" sz="1350" dirty="0">
                <a:solidFill>
                  <a:srgbClr val="111111"/>
                </a:solidFill>
                <a:latin typeface="Segoe UI" pitchFamily="34" charset="0"/>
                <a:ea typeface="Segoe UI" pitchFamily="34" charset="-122"/>
                <a:cs typeface="Segoe UI" pitchFamily="34" charset="-120"/>
              </a:rPr>
              <a:t>NHM norm: one advanced life support ambulance per 5 lakh people, one basic per lakh. A lost backup is hard to replace.</a:t>
            </a:r>
            <a:endParaRPr lang="en-US" sz="1350" dirty="0"/>
          </a:p>
        </p:txBody>
      </p:sp>
      <p:sp>
        <p:nvSpPr>
          <p:cNvPr id="10" name="fact 2 source"/>
          <p:cNvSpPr txBox="1"/>
          <p:nvPr/>
        </p:nvSpPr>
        <p:spPr>
          <a:xfrm>
            <a:off x="3749040" y="4434840"/>
            <a:ext cx="3977640" cy="237744"/>
          </a:xfrm>
          <a:prstGeom prst="rect">
            <a:avLst/>
          </a:prstGeom>
          <a:noFill/>
          <a:ln/>
        </p:spPr>
        <p:txBody>
          <a:bodyPr wrap="square" lIns="0" tIns="0" rIns="0" bIns="0" rtlCol="0" anchor="ctr"/>
          <a:lstStyle/>
          <a:p>
            <a:pPr indent="0" marL="0">
              <a:buNone/>
            </a:pPr>
            <a:r>
              <a:rPr lang="en-US" sz="1000" i="1" dirty="0">
                <a:solidFill>
                  <a:srgbClr val="4A4A5A"/>
                </a:solidFill>
                <a:latin typeface="Segoe UI" pitchFamily="34" charset="0"/>
                <a:ea typeface="Segoe UI" pitchFamily="34" charset="-122"/>
                <a:cs typeface="Segoe UI" pitchFamily="34" charset="-120"/>
              </a:rPr>
              <a:t>Source: MoHFW press release; Rajya Sabha answer, 11 Mar 2025</a:t>
            </a:r>
            <a:endParaRPr lang="en-US" sz="1000" dirty="0"/>
          </a:p>
        </p:txBody>
      </p:sp>
      <p:sp>
        <p:nvSpPr>
          <p:cNvPr id="11" name="fact 3 value"/>
          <p:cNvSpPr txBox="1"/>
          <p:nvPr/>
        </p:nvSpPr>
        <p:spPr>
          <a:xfrm>
            <a:off x="731520" y="4892040"/>
            <a:ext cx="2926080" cy="640080"/>
          </a:xfrm>
          <a:prstGeom prst="rect">
            <a:avLst/>
          </a:prstGeom>
          <a:noFill/>
          <a:ln/>
        </p:spPr>
        <p:txBody>
          <a:bodyPr wrap="square" lIns="0" tIns="0" rIns="0" bIns="0" rtlCol="0" anchor="ctr"/>
          <a:lstStyle/>
          <a:p>
            <a:pPr indent="0" marL="0">
              <a:buNone/>
            </a:pPr>
            <a:r>
              <a:rPr lang="en-US" sz="3000" b="1" dirty="0">
                <a:solidFill>
                  <a:srgbClr val="D62839"/>
                </a:solidFill>
                <a:latin typeface="Segoe UI" pitchFamily="34" charset="0"/>
                <a:ea typeface="Segoe UI" pitchFamily="34" charset="-122"/>
                <a:cs typeface="Segoe UI" pitchFamily="34" charset="-120"/>
              </a:rPr>
              <a:t>20 / 30 min</a:t>
            </a:r>
            <a:endParaRPr lang="en-US" sz="3000" dirty="0"/>
          </a:p>
        </p:txBody>
      </p:sp>
      <p:sp>
        <p:nvSpPr>
          <p:cNvPr id="12" name="fact 3 text"/>
          <p:cNvSpPr txBox="1"/>
          <p:nvPr/>
        </p:nvSpPr>
        <p:spPr>
          <a:xfrm>
            <a:off x="3749040" y="4873752"/>
            <a:ext cx="3977640" cy="868680"/>
          </a:xfrm>
          <a:prstGeom prst="rect">
            <a:avLst/>
          </a:prstGeom>
          <a:noFill/>
          <a:ln/>
        </p:spPr>
        <p:txBody>
          <a:bodyPr wrap="square" lIns="0" tIns="0" rIns="0" bIns="0" rtlCol="0" anchor="t"/>
          <a:lstStyle/>
          <a:p>
            <a:pPr indent="0" marL="0">
              <a:buNone/>
            </a:pPr>
            <a:r>
              <a:rPr lang="en-US" sz="1350" dirty="0">
                <a:solidFill>
                  <a:srgbClr val="111111"/>
                </a:solidFill>
                <a:latin typeface="Segoe UI" pitchFamily="34" charset="0"/>
                <a:ea typeface="Segoe UI" pitchFamily="34" charset="-122"/>
                <a:cs typeface="Segoe UI" pitchFamily="34" charset="-120"/>
              </a:rPr>
              <a:t>Karnataka's 108 contract targets 20 min average urban and 30 min rural: every minute counts against a fixed target.</a:t>
            </a:r>
            <a:endParaRPr lang="en-US" sz="1350" dirty="0"/>
          </a:p>
        </p:txBody>
      </p:sp>
      <p:sp>
        <p:nvSpPr>
          <p:cNvPr id="13" name="fact 3 source"/>
          <p:cNvSpPr txBox="1"/>
          <p:nvPr/>
        </p:nvSpPr>
        <p:spPr>
          <a:xfrm>
            <a:off x="3749040" y="5760720"/>
            <a:ext cx="3977640" cy="237744"/>
          </a:xfrm>
          <a:prstGeom prst="rect">
            <a:avLst/>
          </a:prstGeom>
          <a:noFill/>
          <a:ln/>
        </p:spPr>
        <p:txBody>
          <a:bodyPr wrap="square" lIns="0" tIns="0" rIns="0" bIns="0" rtlCol="0" anchor="ctr"/>
          <a:lstStyle/>
          <a:p>
            <a:pPr indent="0" marL="0">
              <a:buNone/>
            </a:pPr>
            <a:r>
              <a:rPr lang="en-US" sz="1000" i="1" dirty="0">
                <a:solidFill>
                  <a:srgbClr val="4A4A5A"/>
                </a:solidFill>
                <a:latin typeface="Segoe UI" pitchFamily="34" charset="0"/>
                <a:ea typeface="Segoe UI" pitchFamily="34" charset="-122"/>
                <a:cs typeface="Segoe UI" pitchFamily="34" charset="-120"/>
              </a:rPr>
              <a:t>Source: CAG audit of Karnataka 108 services</a:t>
            </a:r>
            <a:endParaRPr lang="en-US" sz="1000" dirty="0"/>
          </a:p>
        </p:txBody>
      </p:sp>
      <p:sp>
        <p:nvSpPr>
          <p:cNvPr id="14" name="fit card"/>
          <p:cNvSpPr/>
          <p:nvPr/>
        </p:nvSpPr>
        <p:spPr>
          <a:xfrm>
            <a:off x="8046720" y="2194560"/>
            <a:ext cx="2926080" cy="3886200"/>
          </a:xfrm>
          <a:prstGeom prst="roundRect">
            <a:avLst>
              <a:gd name="adj" fmla="val 3750"/>
            </a:avLst>
          </a:prstGeom>
          <a:solidFill>
            <a:srgbClr val="2B237C"/>
          </a:solidFill>
          <a:ln w="9525">
            <a:solidFill>
              <a:srgbClr val="CFCBDD"/>
            </a:solidFill>
            <a:prstDash val="solid"/>
          </a:ln>
        </p:spPr>
      </p:sp>
      <p:sp>
        <p:nvSpPr>
          <p:cNvPr id="15" name="fit text"/>
          <p:cNvSpPr txBox="1"/>
          <p:nvPr/>
        </p:nvSpPr>
        <p:spPr>
          <a:xfrm>
            <a:off x="8275320" y="2377440"/>
            <a:ext cx="2468880" cy="3566160"/>
          </a:xfrm>
          <a:prstGeom prst="rect">
            <a:avLst/>
          </a:prstGeom>
          <a:noFill/>
          <a:ln/>
        </p:spPr>
        <p:txBody>
          <a:bodyPr wrap="square" lIns="0" tIns="0" rIns="0" bIns="0" rtlCol="0" anchor="t"/>
          <a:lstStyle/>
          <a:p>
            <a:pPr indent="0" marL="0">
              <a:spcAft>
                <a:spcPts val="600"/>
              </a:spcAft>
              <a:buNone/>
            </a:pPr>
            <a:r>
              <a:rPr lang="en-US" sz="1800" b="1" dirty="0">
                <a:solidFill>
                  <a:srgbClr val="FFFFFF"/>
                </a:solidFill>
                <a:latin typeface="Segoe UI" pitchFamily="34" charset="0"/>
                <a:ea typeface="Segoe UI" pitchFamily="34" charset="-122"/>
                <a:cs typeface="Segoe UI" pitchFamily="34" charset="-120"/>
              </a:rPr>
              <a:t>Where PairCover-Q fits</a:t>
            </a:r>
            <a:endParaRPr lang="en-US" sz="1800" dirty="0"/>
          </a:p>
          <a:p>
            <a:pPr marL="342900" indent="-342900">
              <a:spcAft>
                <a:spcPts val="600"/>
              </a:spcAft>
              <a:buSzPct val="100000"/>
              <a:buChar char="•"/>
            </a:pPr>
            <a:r>
              <a:rPr lang="en-US" sz="1350" dirty="0">
                <a:solidFill>
                  <a:srgbClr val="E6E3F5"/>
                </a:solidFill>
                <a:latin typeface="Segoe UI" pitchFamily="34" charset="0"/>
                <a:ea typeface="Segoe UI" pitchFamily="34" charset="-122"/>
                <a:cs typeface="Segoe UI" pitchFamily="34" charset="-120"/>
              </a:rPr>
              <a:t>Decision support in a 108 command centre when several calls arrive together.</a:t>
            </a:r>
            <a:endParaRPr lang="en-US" sz="1800" dirty="0"/>
          </a:p>
          <a:p>
            <a:pPr marL="342900" indent="-342900">
              <a:spcAft>
                <a:spcPts val="600"/>
              </a:spcAft>
              <a:buSzPct val="100000"/>
              <a:buChar char="•"/>
            </a:pPr>
            <a:r>
              <a:rPr lang="en-US" sz="1350" dirty="0">
                <a:solidFill>
                  <a:srgbClr val="E6E3F5"/>
                </a:solidFill>
                <a:latin typeface="Segoe UI" pitchFamily="34" charset="0"/>
                <a:ea typeface="Segoe UI" pitchFamily="34" charset="-122"/>
                <a:cs typeface="Segoe UI" pitchFamily="34" charset="-120"/>
              </a:rPr>
              <a:t>It recommends who goes where so no area is left without backup; the dispatcher decides.</a:t>
            </a:r>
            <a:endParaRPr lang="en-US" sz="1800" dirty="0"/>
          </a:p>
          <a:p>
            <a:pPr marL="342900" indent="-342900">
              <a:spcAft>
                <a:spcPts val="600"/>
              </a:spcAft>
              <a:buSzPct val="100000"/>
              <a:buChar char="•"/>
            </a:pPr>
            <a:r>
              <a:rPr lang="en-US" sz="1350" dirty="0">
                <a:solidFill>
                  <a:srgbClr val="E6E3F5"/>
                </a:solidFill>
                <a:latin typeface="Segoe UI" pitchFamily="34" charset="0"/>
                <a:ea typeface="Segoe UI" pitchFamily="34" charset="-122"/>
                <a:cs typeface="Segoe UI" pitchFamily="34" charset="-120"/>
              </a:rPr>
              <a:t>Tamil Nadu's 108 research dataset lists the fields a pilot needs.</a:t>
            </a:r>
            <a:endParaRPr lang="en-US" sz="1800" dirty="0"/>
          </a:p>
          <a:p>
            <a:pPr marL="342900" indent="-342900">
              <a:spcAft>
                <a:spcPts val="600"/>
              </a:spcAft>
              <a:buSzPct val="100000"/>
              <a:buChar char="•"/>
            </a:pPr>
            <a:r>
              <a:rPr lang="en-US" sz="1350" b="1" dirty="0">
                <a:solidFill>
                  <a:srgbClr val="FF66C4"/>
                </a:solidFill>
                <a:latin typeface="Segoe UI" pitchFamily="34" charset="0"/>
                <a:ea typeface="Segoe UI" pitchFamily="34" charset="-122"/>
                <a:cs typeface="Segoe UI" pitchFamily="34" charset="-120"/>
              </a:rPr>
              <a:t>More simultaneous calls means more qubits.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pill"/>
          <p:cNvSpPr/>
          <p:nvPr/>
        </p:nvSpPr>
        <p:spPr>
          <a:xfrm>
            <a:off x="4914900" y="681228"/>
            <a:ext cx="2660904"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914900" y="681228"/>
            <a:ext cx="2660904"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Proposed Solution</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PairCover-Q: one qubit per dispatch decision, with </a:t>
            </a:r>
            <a:pPr algn="ctr" indent="0" marL="0">
              <a:buNone/>
            </a:pPr>
            <a:r>
              <a:rPr lang="en-US" sz="2500" b="1" dirty="0">
                <a:solidFill>
                  <a:srgbClr val="FF66C4"/>
                </a:solidFill>
                <a:latin typeface="Segoe UI" pitchFamily="34" charset="0"/>
                <a:ea typeface="Segoe UI" pitchFamily="34" charset="-122"/>
                <a:cs typeface="Segoe UI" pitchFamily="34" charset="-120"/>
              </a:rPr>
              <a:t>backup coverage built in</a:t>
            </a:r>
            <a:endParaRPr lang="en-US" sz="2500" dirty="0"/>
          </a:p>
        </p:txBody>
      </p:sp>
      <p:sp>
        <p:nvSpPr>
          <p:cNvPr id="5" name="step 1 circle"/>
          <p:cNvSpPr/>
          <p:nvPr/>
        </p:nvSpPr>
        <p:spPr>
          <a:xfrm>
            <a:off x="731520" y="2240280"/>
            <a:ext cx="640080" cy="640080"/>
          </a:xfrm>
          <a:prstGeom prst="ellipse">
            <a:avLst/>
          </a:prstGeom>
          <a:solidFill>
            <a:srgbClr val="6D28D9"/>
          </a:solidFill>
          <a:ln w="12700">
            <a:solidFill>
              <a:srgbClr val="6D28D9"/>
            </a:solidFill>
            <a:prstDash val="solid"/>
          </a:ln>
        </p:spPr>
      </p:sp>
      <p:sp>
        <p:nvSpPr>
          <p:cNvPr id="6" name="step 1 number"/>
          <p:cNvSpPr txBox="1"/>
          <p:nvPr/>
        </p:nvSpPr>
        <p:spPr>
          <a:xfrm>
            <a:off x="731520" y="2240280"/>
            <a:ext cx="640080" cy="640080"/>
          </a:xfrm>
          <a:prstGeom prst="rect">
            <a:avLst/>
          </a:prstGeom>
          <a:noFill/>
          <a:ln/>
        </p:spPr>
        <p:txBody>
          <a:bodyPr wrap="square" lIns="0" tIns="0" rIns="0" bIns="0" rtlCol="0" anchor="ctr"/>
          <a:lstStyle/>
          <a:p>
            <a:pPr algn="ctr" indent="0" marL="0">
              <a:buNone/>
            </a:pPr>
            <a:r>
              <a:rPr lang="en-US" sz="1680" b="1" dirty="0">
                <a:solidFill>
                  <a:srgbClr val="FFFFFF"/>
                </a:solidFill>
                <a:latin typeface="Segoe UI" pitchFamily="34" charset="0"/>
                <a:ea typeface="Segoe UI" pitchFamily="34" charset="-122"/>
                <a:cs typeface="Segoe UI" pitchFamily="34" charset="-120"/>
              </a:rPr>
              <a:t>1</a:t>
            </a:r>
            <a:endParaRPr lang="en-US" sz="1680" dirty="0"/>
          </a:p>
        </p:txBody>
      </p:sp>
      <p:sp>
        <p:nvSpPr>
          <p:cNvPr id="7" name="arrow 1"/>
          <p:cNvSpPr/>
          <p:nvPr/>
        </p:nvSpPr>
        <p:spPr>
          <a:xfrm>
            <a:off x="1463040" y="2560320"/>
            <a:ext cx="1257300" cy="0"/>
          </a:xfrm>
          <a:prstGeom prst="line">
            <a:avLst/>
          </a:prstGeom>
          <a:noFill/>
          <a:ln w="25400">
            <a:solidFill>
              <a:srgbClr val="FF66C4"/>
            </a:solidFill>
            <a:prstDash val="solid"/>
            <a:tailEnd type="triangle"/>
          </a:ln>
        </p:spPr>
      </p:sp>
      <p:sp>
        <p:nvSpPr>
          <p:cNvPr id="8" name="step 1 head"/>
          <p:cNvSpPr txBox="1"/>
          <p:nvPr/>
        </p:nvSpPr>
        <p:spPr>
          <a:xfrm>
            <a:off x="731520" y="3017520"/>
            <a:ext cx="2011680" cy="329184"/>
          </a:xfrm>
          <a:prstGeom prst="rect">
            <a:avLst/>
          </a:prstGeom>
          <a:noFill/>
          <a:ln/>
        </p:spPr>
        <p:txBody>
          <a:bodyPr wrap="square" lIns="0" tIns="0" rIns="0" bIns="0" rtlCol="0" anchor="ctr"/>
          <a:lstStyle/>
          <a:p>
            <a:pPr indent="0" marL="0">
              <a:buNone/>
            </a:pPr>
            <a:r>
              <a:rPr lang="en-US" sz="1600" b="1" dirty="0">
                <a:solidFill>
                  <a:srgbClr val="2B237C"/>
                </a:solidFill>
                <a:latin typeface="Segoe UI" pitchFamily="34" charset="0"/>
                <a:ea typeface="Segoe UI" pitchFamily="34" charset="-122"/>
                <a:cs typeface="Segoe UI" pitchFamily="34" charset="-120"/>
              </a:rPr>
              <a:t>Calls arrive</a:t>
            </a:r>
            <a:endParaRPr lang="en-US" sz="1600" dirty="0"/>
          </a:p>
        </p:txBody>
      </p:sp>
      <p:sp>
        <p:nvSpPr>
          <p:cNvPr id="9" name="step 1 text"/>
          <p:cNvSpPr txBox="1"/>
          <p:nvPr/>
        </p:nvSpPr>
        <p:spPr>
          <a:xfrm>
            <a:off x="731520" y="3364992"/>
            <a:ext cx="1874520" cy="6858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Waiting calls, free ambulances, travel minutes</a:t>
            </a:r>
            <a:endParaRPr lang="en-US" sz="1300" dirty="0"/>
          </a:p>
        </p:txBody>
      </p:sp>
      <p:sp>
        <p:nvSpPr>
          <p:cNvPr id="10" name="step 2 circle"/>
          <p:cNvSpPr/>
          <p:nvPr/>
        </p:nvSpPr>
        <p:spPr>
          <a:xfrm>
            <a:off x="2811780" y="2240280"/>
            <a:ext cx="640080" cy="640080"/>
          </a:xfrm>
          <a:prstGeom prst="ellipse">
            <a:avLst/>
          </a:prstGeom>
          <a:solidFill>
            <a:srgbClr val="6D28D9"/>
          </a:solidFill>
          <a:ln w="12700">
            <a:solidFill>
              <a:srgbClr val="6D28D9"/>
            </a:solidFill>
            <a:prstDash val="solid"/>
          </a:ln>
        </p:spPr>
      </p:sp>
      <p:sp>
        <p:nvSpPr>
          <p:cNvPr id="11" name="step 2 number"/>
          <p:cNvSpPr txBox="1"/>
          <p:nvPr/>
        </p:nvSpPr>
        <p:spPr>
          <a:xfrm>
            <a:off x="2811780" y="2240280"/>
            <a:ext cx="640080" cy="640080"/>
          </a:xfrm>
          <a:prstGeom prst="rect">
            <a:avLst/>
          </a:prstGeom>
          <a:noFill/>
          <a:ln/>
        </p:spPr>
        <p:txBody>
          <a:bodyPr wrap="square" lIns="0" tIns="0" rIns="0" bIns="0" rtlCol="0" anchor="ctr"/>
          <a:lstStyle/>
          <a:p>
            <a:pPr algn="ctr" indent="0" marL="0">
              <a:buNone/>
            </a:pPr>
            <a:r>
              <a:rPr lang="en-US" sz="1680" b="1" dirty="0">
                <a:solidFill>
                  <a:srgbClr val="FFFFFF"/>
                </a:solidFill>
                <a:latin typeface="Segoe UI" pitchFamily="34" charset="0"/>
                <a:ea typeface="Segoe UI" pitchFamily="34" charset="-122"/>
                <a:cs typeface="Segoe UI" pitchFamily="34" charset="-120"/>
              </a:rPr>
              <a:t>2</a:t>
            </a:r>
            <a:endParaRPr lang="en-US" sz="1680" dirty="0"/>
          </a:p>
        </p:txBody>
      </p:sp>
      <p:sp>
        <p:nvSpPr>
          <p:cNvPr id="12" name="arrow 2"/>
          <p:cNvSpPr/>
          <p:nvPr/>
        </p:nvSpPr>
        <p:spPr>
          <a:xfrm>
            <a:off x="3543300" y="2560320"/>
            <a:ext cx="1257300" cy="0"/>
          </a:xfrm>
          <a:prstGeom prst="line">
            <a:avLst/>
          </a:prstGeom>
          <a:noFill/>
          <a:ln w="25400">
            <a:solidFill>
              <a:srgbClr val="FF66C4"/>
            </a:solidFill>
            <a:prstDash val="solid"/>
            <a:tailEnd type="triangle"/>
          </a:ln>
        </p:spPr>
      </p:sp>
      <p:sp>
        <p:nvSpPr>
          <p:cNvPr id="13" name="step 2 head"/>
          <p:cNvSpPr txBox="1"/>
          <p:nvPr/>
        </p:nvSpPr>
        <p:spPr>
          <a:xfrm>
            <a:off x="2811780" y="3017520"/>
            <a:ext cx="2011680" cy="329184"/>
          </a:xfrm>
          <a:prstGeom prst="rect">
            <a:avLst/>
          </a:prstGeom>
          <a:noFill/>
          <a:ln/>
        </p:spPr>
        <p:txBody>
          <a:bodyPr wrap="square" lIns="0" tIns="0" rIns="0" bIns="0" rtlCol="0" anchor="ctr"/>
          <a:lstStyle/>
          <a:p>
            <a:pPr indent="0" marL="0">
              <a:buNone/>
            </a:pPr>
            <a:r>
              <a:rPr lang="en-US" sz="1600" b="1" dirty="0">
                <a:solidFill>
                  <a:srgbClr val="2B237C"/>
                </a:solidFill>
                <a:latin typeface="Segoe UI" pitchFamily="34" charset="0"/>
                <a:ea typeface="Segoe UI" pitchFamily="34" charset="-122"/>
                <a:cs typeface="Segoe UI" pitchFamily="34" charset="-120"/>
              </a:rPr>
              <a:t>QUBO</a:t>
            </a:r>
            <a:endParaRPr lang="en-US" sz="1600" dirty="0"/>
          </a:p>
        </p:txBody>
      </p:sp>
      <p:sp>
        <p:nvSpPr>
          <p:cNvPr id="14" name="step 2 text"/>
          <p:cNvSpPr txBox="1"/>
          <p:nvPr/>
        </p:nvSpPr>
        <p:spPr>
          <a:xfrm>
            <a:off x="2811780" y="3364992"/>
            <a:ext cx="1874520" cy="6858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One yes/no variable per ambulance–call pair</a:t>
            </a:r>
            <a:endParaRPr lang="en-US" sz="1300" dirty="0"/>
          </a:p>
        </p:txBody>
      </p:sp>
      <p:sp>
        <p:nvSpPr>
          <p:cNvPr id="15" name="step 3 circle"/>
          <p:cNvSpPr/>
          <p:nvPr/>
        </p:nvSpPr>
        <p:spPr>
          <a:xfrm>
            <a:off x="4892040" y="2240280"/>
            <a:ext cx="640080" cy="640080"/>
          </a:xfrm>
          <a:prstGeom prst="ellipse">
            <a:avLst/>
          </a:prstGeom>
          <a:solidFill>
            <a:srgbClr val="6D28D9"/>
          </a:solidFill>
          <a:ln w="12700">
            <a:solidFill>
              <a:srgbClr val="6D28D9"/>
            </a:solidFill>
            <a:prstDash val="solid"/>
          </a:ln>
        </p:spPr>
      </p:sp>
      <p:sp>
        <p:nvSpPr>
          <p:cNvPr id="16" name="step 3 number"/>
          <p:cNvSpPr txBox="1"/>
          <p:nvPr/>
        </p:nvSpPr>
        <p:spPr>
          <a:xfrm>
            <a:off x="4892040" y="2240280"/>
            <a:ext cx="640080" cy="640080"/>
          </a:xfrm>
          <a:prstGeom prst="rect">
            <a:avLst/>
          </a:prstGeom>
          <a:noFill/>
          <a:ln/>
        </p:spPr>
        <p:txBody>
          <a:bodyPr wrap="square" lIns="0" tIns="0" rIns="0" bIns="0" rtlCol="0" anchor="ctr"/>
          <a:lstStyle/>
          <a:p>
            <a:pPr algn="ctr" indent="0" marL="0">
              <a:buNone/>
            </a:pPr>
            <a:r>
              <a:rPr lang="en-US" sz="1680" b="1" dirty="0">
                <a:solidFill>
                  <a:srgbClr val="FFFFFF"/>
                </a:solidFill>
                <a:latin typeface="Segoe UI" pitchFamily="34" charset="0"/>
                <a:ea typeface="Segoe UI" pitchFamily="34" charset="-122"/>
                <a:cs typeface="Segoe UI" pitchFamily="34" charset="-120"/>
              </a:rPr>
              <a:t>3</a:t>
            </a:r>
            <a:endParaRPr lang="en-US" sz="1680" dirty="0"/>
          </a:p>
        </p:txBody>
      </p:sp>
      <p:sp>
        <p:nvSpPr>
          <p:cNvPr id="17" name="arrow 3"/>
          <p:cNvSpPr/>
          <p:nvPr/>
        </p:nvSpPr>
        <p:spPr>
          <a:xfrm>
            <a:off x="5623560" y="2560320"/>
            <a:ext cx="1257300" cy="0"/>
          </a:xfrm>
          <a:prstGeom prst="line">
            <a:avLst/>
          </a:prstGeom>
          <a:noFill/>
          <a:ln w="25400">
            <a:solidFill>
              <a:srgbClr val="FF66C4"/>
            </a:solidFill>
            <a:prstDash val="solid"/>
            <a:tailEnd type="triangle"/>
          </a:ln>
        </p:spPr>
      </p:sp>
      <p:sp>
        <p:nvSpPr>
          <p:cNvPr id="18" name="step 3 head"/>
          <p:cNvSpPr txBox="1"/>
          <p:nvPr/>
        </p:nvSpPr>
        <p:spPr>
          <a:xfrm>
            <a:off x="4892040" y="3017520"/>
            <a:ext cx="2011680" cy="329184"/>
          </a:xfrm>
          <a:prstGeom prst="rect">
            <a:avLst/>
          </a:prstGeom>
          <a:noFill/>
          <a:ln/>
        </p:spPr>
        <p:txBody>
          <a:bodyPr wrap="square" lIns="0" tIns="0" rIns="0" bIns="0" rtlCol="0" anchor="ctr"/>
          <a:lstStyle/>
          <a:p>
            <a:pPr indent="0" marL="0">
              <a:buNone/>
            </a:pPr>
            <a:r>
              <a:rPr lang="en-US" sz="1600" b="1" dirty="0">
                <a:solidFill>
                  <a:srgbClr val="2B237C"/>
                </a:solidFill>
                <a:latin typeface="Segoe UI" pitchFamily="34" charset="0"/>
                <a:ea typeface="Segoe UI" pitchFamily="34" charset="-122"/>
                <a:cs typeface="Segoe UI" pitchFamily="34" charset="-120"/>
              </a:rPr>
              <a:t>QAOA circuit</a:t>
            </a:r>
            <a:endParaRPr lang="en-US" sz="1600" dirty="0"/>
          </a:p>
        </p:txBody>
      </p:sp>
      <p:sp>
        <p:nvSpPr>
          <p:cNvPr id="19" name="step 3 text"/>
          <p:cNvSpPr txBox="1"/>
          <p:nvPr/>
        </p:nvSpPr>
        <p:spPr>
          <a:xfrm>
            <a:off x="4892040" y="3364992"/>
            <a:ext cx="1874520" cy="6858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Qiskit 2.5, ramp start, depth 1–3</a:t>
            </a:r>
            <a:endParaRPr lang="en-US" sz="1300" dirty="0"/>
          </a:p>
        </p:txBody>
      </p:sp>
      <p:sp>
        <p:nvSpPr>
          <p:cNvPr id="20" name="step 4 circle"/>
          <p:cNvSpPr/>
          <p:nvPr/>
        </p:nvSpPr>
        <p:spPr>
          <a:xfrm>
            <a:off x="6972300" y="2240280"/>
            <a:ext cx="640080" cy="640080"/>
          </a:xfrm>
          <a:prstGeom prst="ellipse">
            <a:avLst/>
          </a:prstGeom>
          <a:solidFill>
            <a:srgbClr val="1E9AA8"/>
          </a:solidFill>
          <a:ln w="12700">
            <a:solidFill>
              <a:srgbClr val="1E9AA8"/>
            </a:solidFill>
            <a:prstDash val="solid"/>
          </a:ln>
        </p:spPr>
      </p:sp>
      <p:sp>
        <p:nvSpPr>
          <p:cNvPr id="21" name="step 4 number"/>
          <p:cNvSpPr txBox="1"/>
          <p:nvPr/>
        </p:nvSpPr>
        <p:spPr>
          <a:xfrm>
            <a:off x="6972300" y="2240280"/>
            <a:ext cx="640080" cy="640080"/>
          </a:xfrm>
          <a:prstGeom prst="rect">
            <a:avLst/>
          </a:prstGeom>
          <a:noFill/>
          <a:ln/>
        </p:spPr>
        <p:txBody>
          <a:bodyPr wrap="square" lIns="0" tIns="0" rIns="0" bIns="0" rtlCol="0" anchor="ctr"/>
          <a:lstStyle/>
          <a:p>
            <a:pPr algn="ctr" indent="0" marL="0">
              <a:buNone/>
            </a:pPr>
            <a:r>
              <a:rPr lang="en-US" sz="1680" b="1" dirty="0">
                <a:solidFill>
                  <a:srgbClr val="FFFFFF"/>
                </a:solidFill>
                <a:latin typeface="Segoe UI" pitchFamily="34" charset="0"/>
                <a:ea typeface="Segoe UI" pitchFamily="34" charset="-122"/>
                <a:cs typeface="Segoe UI" pitchFamily="34" charset="-120"/>
              </a:rPr>
              <a:t>4</a:t>
            </a:r>
            <a:endParaRPr lang="en-US" sz="1680" dirty="0"/>
          </a:p>
        </p:txBody>
      </p:sp>
      <p:sp>
        <p:nvSpPr>
          <p:cNvPr id="22" name="arrow 4"/>
          <p:cNvSpPr/>
          <p:nvPr/>
        </p:nvSpPr>
        <p:spPr>
          <a:xfrm>
            <a:off x="7703820" y="2560320"/>
            <a:ext cx="1257300" cy="0"/>
          </a:xfrm>
          <a:prstGeom prst="line">
            <a:avLst/>
          </a:prstGeom>
          <a:noFill/>
          <a:ln w="25400">
            <a:solidFill>
              <a:srgbClr val="FF66C4"/>
            </a:solidFill>
            <a:prstDash val="solid"/>
            <a:tailEnd type="triangle"/>
          </a:ln>
        </p:spPr>
      </p:sp>
      <p:sp>
        <p:nvSpPr>
          <p:cNvPr id="23" name="step 4 head"/>
          <p:cNvSpPr txBox="1"/>
          <p:nvPr/>
        </p:nvSpPr>
        <p:spPr>
          <a:xfrm>
            <a:off x="6972300" y="3017520"/>
            <a:ext cx="2011680" cy="329184"/>
          </a:xfrm>
          <a:prstGeom prst="rect">
            <a:avLst/>
          </a:prstGeom>
          <a:noFill/>
          <a:ln/>
        </p:spPr>
        <p:txBody>
          <a:bodyPr wrap="square" lIns="0" tIns="0" rIns="0" bIns="0" rtlCol="0" anchor="ctr"/>
          <a:lstStyle/>
          <a:p>
            <a:pPr indent="0" marL="0">
              <a:buNone/>
            </a:pPr>
            <a:r>
              <a:rPr lang="en-US" sz="1600" b="1" dirty="0">
                <a:solidFill>
                  <a:srgbClr val="2B237C"/>
                </a:solidFill>
                <a:latin typeface="Segoe UI" pitchFamily="34" charset="0"/>
                <a:ea typeface="Segoe UI" pitchFamily="34" charset="-122"/>
                <a:cs typeface="Segoe UI" pitchFamily="34" charset="-120"/>
              </a:rPr>
              <a:t>Run</a:t>
            </a:r>
            <a:endParaRPr lang="en-US" sz="1600" dirty="0"/>
          </a:p>
        </p:txBody>
      </p:sp>
      <p:sp>
        <p:nvSpPr>
          <p:cNvPr id="24" name="step 4 text"/>
          <p:cNvSpPr txBox="1"/>
          <p:nvPr/>
        </p:nvSpPr>
        <p:spPr>
          <a:xfrm>
            <a:off x="6972300" y="3364992"/>
            <a:ext cx="1874520" cy="6858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Simulator, IBM noise copy, real IBM chip</a:t>
            </a:r>
            <a:endParaRPr lang="en-US" sz="1300" dirty="0"/>
          </a:p>
        </p:txBody>
      </p:sp>
      <p:sp>
        <p:nvSpPr>
          <p:cNvPr id="25" name="step 5 circle"/>
          <p:cNvSpPr/>
          <p:nvPr/>
        </p:nvSpPr>
        <p:spPr>
          <a:xfrm>
            <a:off x="9052560" y="2240280"/>
            <a:ext cx="640080" cy="640080"/>
          </a:xfrm>
          <a:prstGeom prst="ellipse">
            <a:avLst/>
          </a:prstGeom>
          <a:solidFill>
            <a:srgbClr val="6D28D9"/>
          </a:solidFill>
          <a:ln w="12700">
            <a:solidFill>
              <a:srgbClr val="6D28D9"/>
            </a:solidFill>
            <a:prstDash val="solid"/>
          </a:ln>
        </p:spPr>
      </p:sp>
      <p:sp>
        <p:nvSpPr>
          <p:cNvPr id="26" name="step 5 number"/>
          <p:cNvSpPr txBox="1"/>
          <p:nvPr/>
        </p:nvSpPr>
        <p:spPr>
          <a:xfrm>
            <a:off x="9052560" y="2240280"/>
            <a:ext cx="640080" cy="640080"/>
          </a:xfrm>
          <a:prstGeom prst="rect">
            <a:avLst/>
          </a:prstGeom>
          <a:noFill/>
          <a:ln/>
        </p:spPr>
        <p:txBody>
          <a:bodyPr wrap="square" lIns="0" tIns="0" rIns="0" bIns="0" rtlCol="0" anchor="ctr"/>
          <a:lstStyle/>
          <a:p>
            <a:pPr algn="ctr" indent="0" marL="0">
              <a:buNone/>
            </a:pPr>
            <a:r>
              <a:rPr lang="en-US" sz="1680" b="1" dirty="0">
                <a:solidFill>
                  <a:srgbClr val="FFFFFF"/>
                </a:solidFill>
                <a:latin typeface="Segoe UI" pitchFamily="34" charset="0"/>
                <a:ea typeface="Segoe UI" pitchFamily="34" charset="-122"/>
                <a:cs typeface="Segoe UI" pitchFamily="34" charset="-120"/>
              </a:rPr>
              <a:t>5</a:t>
            </a:r>
            <a:endParaRPr lang="en-US" sz="1680" dirty="0"/>
          </a:p>
        </p:txBody>
      </p:sp>
      <p:sp>
        <p:nvSpPr>
          <p:cNvPr id="27" name="step 5 head"/>
          <p:cNvSpPr txBox="1"/>
          <p:nvPr/>
        </p:nvSpPr>
        <p:spPr>
          <a:xfrm>
            <a:off x="9052560" y="3017520"/>
            <a:ext cx="2011680" cy="329184"/>
          </a:xfrm>
          <a:prstGeom prst="rect">
            <a:avLst/>
          </a:prstGeom>
          <a:noFill/>
          <a:ln/>
        </p:spPr>
        <p:txBody>
          <a:bodyPr wrap="square" lIns="0" tIns="0" rIns="0" bIns="0" rtlCol="0" anchor="ctr"/>
          <a:lstStyle/>
          <a:p>
            <a:pPr indent="0" marL="0">
              <a:buNone/>
            </a:pPr>
            <a:r>
              <a:rPr lang="en-US" sz="1600" b="1" dirty="0">
                <a:solidFill>
                  <a:srgbClr val="2B237C"/>
                </a:solidFill>
                <a:latin typeface="Segoe UI" pitchFamily="34" charset="0"/>
                <a:ea typeface="Segoe UI" pitchFamily="34" charset="-122"/>
                <a:cs typeface="Segoe UI" pitchFamily="34" charset="-120"/>
              </a:rPr>
              <a:t>Check</a:t>
            </a:r>
            <a:endParaRPr lang="en-US" sz="1600" dirty="0"/>
          </a:p>
        </p:txBody>
      </p:sp>
      <p:sp>
        <p:nvSpPr>
          <p:cNvPr id="28" name="step 5 text"/>
          <p:cNvSpPr txBox="1"/>
          <p:nvPr/>
        </p:nvSpPr>
        <p:spPr>
          <a:xfrm>
            <a:off x="9052560" y="3364992"/>
            <a:ext cx="1874520" cy="6858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Against the exact solver and random guessing</a:t>
            </a:r>
            <a:endParaRPr lang="en-US" sz="1300" dirty="0"/>
          </a:p>
        </p:txBody>
      </p:sp>
      <p:sp>
        <p:nvSpPr>
          <p:cNvPr id="29" name="formula card"/>
          <p:cNvSpPr/>
          <p:nvPr/>
        </p:nvSpPr>
        <p:spPr>
          <a:xfrm>
            <a:off x="731520" y="4343400"/>
            <a:ext cx="10241280" cy="1691640"/>
          </a:xfrm>
          <a:prstGeom prst="roundRect">
            <a:avLst>
              <a:gd name="adj" fmla="val 6486"/>
            </a:avLst>
          </a:prstGeom>
          <a:solidFill>
            <a:srgbClr val="F3EEFF"/>
          </a:solidFill>
          <a:ln w="9525">
            <a:solidFill>
              <a:srgbClr val="CFCBDD"/>
            </a:solidFill>
            <a:prstDash val="solid"/>
          </a:ln>
        </p:spPr>
      </p:sp>
      <p:sp>
        <p:nvSpPr>
          <p:cNvPr id="30" name="formula label"/>
          <p:cNvSpPr txBox="1"/>
          <p:nvPr/>
        </p:nvSpPr>
        <p:spPr>
          <a:xfrm>
            <a:off x="1005840" y="4498848"/>
            <a:ext cx="5486400" cy="256032"/>
          </a:xfrm>
          <a:prstGeom prst="rect">
            <a:avLst/>
          </a:prstGeom>
          <a:noFill/>
          <a:ln/>
        </p:spPr>
        <p:txBody>
          <a:bodyPr wrap="square" lIns="0" tIns="0" rIns="0" bIns="0" rtlCol="0" anchor="ctr"/>
          <a:lstStyle/>
          <a:p>
            <a:pPr indent="0" marL="0">
              <a:buNone/>
            </a:pPr>
            <a:r>
              <a:rPr lang="en-US" sz="1100" b="1" spc="200" kern="0" dirty="0">
                <a:solidFill>
                  <a:srgbClr val="6D28D9"/>
                </a:solidFill>
                <a:latin typeface="Segoe UI" pitchFamily="34" charset="0"/>
                <a:ea typeface="Segoe UI" pitchFamily="34" charset="-122"/>
                <a:cs typeface="Segoe UI" pitchFamily="34" charset="-120"/>
              </a:rPr>
              <a:t>COST WE MINIMISE</a:t>
            </a:r>
            <a:endParaRPr lang="en-US" sz="1100" dirty="0"/>
          </a:p>
        </p:txBody>
      </p:sp>
      <p:sp>
        <p:nvSpPr>
          <p:cNvPr id="31" name="formula"/>
          <p:cNvSpPr txBox="1"/>
          <p:nvPr/>
        </p:nvSpPr>
        <p:spPr>
          <a:xfrm>
            <a:off x="1005840" y="4800600"/>
            <a:ext cx="9692640" cy="502920"/>
          </a:xfrm>
          <a:prstGeom prst="rect">
            <a:avLst/>
          </a:prstGeom>
          <a:noFill/>
          <a:ln/>
        </p:spPr>
        <p:txBody>
          <a:bodyPr wrap="square" lIns="0" tIns="0" rIns="0" bIns="0" rtlCol="0" anchor="ctr"/>
          <a:lstStyle/>
          <a:p>
            <a:pPr indent="0" marL="0">
              <a:buNone/>
            </a:pPr>
            <a:r>
              <a:rPr lang="en-US" sz="2100" b="1" dirty="0">
                <a:solidFill>
                  <a:srgbClr val="111111"/>
                </a:solidFill>
                <a:latin typeface="Segoe UI" pitchFamily="34" charset="0"/>
                <a:ea typeface="Segoe UI" pitchFamily="34" charset="-122"/>
                <a:cs typeface="Segoe UI" pitchFamily="34" charset="-120"/>
              </a:rPr>
              <a:t>Σ priority × travel minutes  +  Σ unserved-call penalty  +  λ × coverage lost</a:t>
            </a:r>
            <a:endParaRPr lang="en-US" sz="2100" dirty="0"/>
          </a:p>
        </p:txBody>
      </p:sp>
      <p:sp>
        <p:nvSpPr>
          <p:cNvPr id="32" name="formula note"/>
          <p:cNvSpPr txBox="1"/>
          <p:nvPr/>
        </p:nvSpPr>
        <p:spPr>
          <a:xfrm>
            <a:off x="1005840" y="5349240"/>
            <a:ext cx="9692640" cy="548640"/>
          </a:xfrm>
          <a:prstGeom prst="rect">
            <a:avLst/>
          </a:prstGeom>
          <a:noFill/>
          <a:ln/>
        </p:spPr>
        <p:txBody>
          <a:bodyPr wrap="square" lIns="0" tIns="0" rIns="0" bIns="0" rtlCol="0" anchor="ctr"/>
          <a:lstStyle/>
          <a:p>
            <a:pPr indent="0" marL="0">
              <a:buNone/>
            </a:pPr>
            <a:r>
              <a:rPr lang="en-US" sz="1350" dirty="0">
                <a:solidFill>
                  <a:srgbClr val="4A4A5A"/>
                </a:solidFill>
                <a:latin typeface="Segoe UI" pitchFamily="34" charset="0"/>
                <a:ea typeface="Segoe UI" pitchFamily="34" charset="-122"/>
                <a:cs typeface="Segoe UI" pitchFamily="34" charset="-120"/>
              </a:rPr>
              <a:t>Solved jointly for all active calls, not one call at a time. Losing a backup pair is a product of two yes/no variables, so it fits a QUBO natively.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pill"/>
          <p:cNvSpPr/>
          <p:nvPr/>
        </p:nvSpPr>
        <p:spPr>
          <a:xfrm>
            <a:off x="4855464" y="681228"/>
            <a:ext cx="2779776"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855464" y="681228"/>
            <a:ext cx="2779776"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Mathematical Model</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Dispatch with backup coverage becomes a </a:t>
            </a:r>
            <a:pPr algn="ctr" indent="0" marL="0">
              <a:buNone/>
            </a:pPr>
            <a:r>
              <a:rPr lang="en-US" sz="2500" b="1" dirty="0">
                <a:solidFill>
                  <a:srgbClr val="FF66C4"/>
                </a:solidFill>
                <a:latin typeface="Segoe UI" pitchFamily="34" charset="0"/>
                <a:ea typeface="Segoe UI" pitchFamily="34" charset="-122"/>
                <a:cs typeface="Segoe UI" pitchFamily="34" charset="-120"/>
              </a:rPr>
              <a:t>QUBO</a:t>
            </a:r>
            <a:pPr algn="ctr" indent="0" marL="0">
              <a:buNone/>
            </a:pPr>
            <a:r>
              <a:rPr lang="en-US" sz="2500" b="1" dirty="0">
                <a:solidFill>
                  <a:srgbClr val="111111"/>
                </a:solidFill>
                <a:latin typeface="Segoe UI" pitchFamily="34" charset="0"/>
                <a:ea typeface="Segoe UI" pitchFamily="34" charset="-122"/>
                <a:cs typeface="Segoe UI" pitchFamily="34" charset="-120"/>
              </a:rPr>
              <a:t>, then an Ising Hamiltonian</a:t>
            </a:r>
            <a:endParaRPr lang="en-US" sz="2500" dirty="0"/>
          </a:p>
        </p:txBody>
      </p:sp>
      <p:sp>
        <p:nvSpPr>
          <p:cNvPr id="5" name="decision label"/>
          <p:cNvSpPr txBox="1"/>
          <p:nvPr/>
        </p:nvSpPr>
        <p:spPr>
          <a:xfrm>
            <a:off x="731520" y="2194560"/>
            <a:ext cx="1737360" cy="329184"/>
          </a:xfrm>
          <a:prstGeom prst="rect">
            <a:avLst/>
          </a:prstGeom>
          <a:noFill/>
          <a:ln/>
        </p:spPr>
        <p:txBody>
          <a:bodyPr wrap="square" lIns="0" tIns="0" rIns="0" bIns="0" rtlCol="0" anchor="ctr"/>
          <a:lstStyle/>
          <a:p>
            <a:pPr indent="0" marL="0">
              <a:buNone/>
            </a:pPr>
            <a:r>
              <a:rPr lang="en-US" sz="1400" b="1" dirty="0">
                <a:solidFill>
                  <a:srgbClr val="6D28D9"/>
                </a:solidFill>
                <a:latin typeface="Segoe UI" pitchFamily="34" charset="0"/>
                <a:ea typeface="Segoe UI" pitchFamily="34" charset="-122"/>
                <a:cs typeface="Segoe UI" pitchFamily="34" charset="-120"/>
              </a:rPr>
              <a:t>Decision</a:t>
            </a:r>
            <a:endParaRPr lang="en-US" sz="1400" dirty="0"/>
          </a:p>
        </p:txBody>
      </p:sp>
      <p:sp>
        <p:nvSpPr>
          <p:cNvPr id="6" name="decision formula"/>
          <p:cNvSpPr txBox="1"/>
          <p:nvPr/>
        </p:nvSpPr>
        <p:spPr>
          <a:xfrm>
            <a:off x="2468880" y="2157984"/>
            <a:ext cx="8503920" cy="365760"/>
          </a:xfrm>
          <a:prstGeom prst="rect">
            <a:avLst/>
          </a:prstGeom>
          <a:noFill/>
          <a:ln/>
        </p:spPr>
        <p:txBody>
          <a:bodyPr wrap="square" lIns="0" tIns="0" rIns="0" bIns="0" rtlCol="0" anchor="ctr"/>
          <a:lstStyle/>
          <a:p>
            <a:pPr indent="0" marL="0">
              <a:buNone/>
            </a:pPr>
            <a:r>
              <a:rPr lang="en-US" sz="1800" dirty="0">
                <a:solidFill>
                  <a:srgbClr val="111111"/>
                </a:solidFill>
                <a:latin typeface="Cambria Math" pitchFamily="34" charset="0"/>
                <a:ea typeface="Cambria Math" pitchFamily="34" charset="-122"/>
                <a:cs typeface="Cambria Math" pitchFamily="34" charset="-120"/>
              </a:rPr>
              <a:t>xᵤⱼ ∈ {0, 1}  =  1 if ambulance u goes to call j</a:t>
            </a:r>
            <a:endParaRPr lang="en-US" sz="1800" dirty="0"/>
          </a:p>
        </p:txBody>
      </p:sp>
      <p:sp>
        <p:nvSpPr>
          <p:cNvPr id="7" name="decision note"/>
          <p:cNvSpPr txBox="1"/>
          <p:nvPr/>
        </p:nvSpPr>
        <p:spPr>
          <a:xfrm>
            <a:off x="2468880" y="2532888"/>
            <a:ext cx="8503920" cy="256032"/>
          </a:xfrm>
          <a:prstGeom prst="rect">
            <a:avLst/>
          </a:prstGeom>
          <a:noFill/>
          <a:ln/>
        </p:spPr>
        <p:txBody>
          <a:bodyPr wrap="square" lIns="0" tIns="0" rIns="0" bIns="0" rtlCol="0" anchor="ctr"/>
          <a:lstStyle/>
          <a:p>
            <a:pPr indent="0" marL="0">
              <a:buNone/>
            </a:pPr>
            <a:r>
              <a:rPr lang="en-US" sz="1150" dirty="0">
                <a:solidFill>
                  <a:srgbClr val="4A4A5A"/>
                </a:solidFill>
                <a:latin typeface="Segoe UI" pitchFamily="34" charset="0"/>
                <a:ea typeface="Segoe UI" pitchFamily="34" charset="-122"/>
                <a:cs typeface="Segoe UI" pitchFamily="34" charset="-120"/>
              </a:rPr>
              <a:t>Only eligible pairs get a variable: the unit arrives within 12 minutes, or it is the nearest one</a:t>
            </a:r>
            <a:endParaRPr lang="en-US" sz="1150" dirty="0"/>
          </a:p>
        </p:txBody>
      </p:sp>
      <p:sp>
        <p:nvSpPr>
          <p:cNvPr id="8" name="objective label"/>
          <p:cNvSpPr txBox="1"/>
          <p:nvPr/>
        </p:nvSpPr>
        <p:spPr>
          <a:xfrm>
            <a:off x="731520" y="2852928"/>
            <a:ext cx="1737360" cy="329184"/>
          </a:xfrm>
          <a:prstGeom prst="rect">
            <a:avLst/>
          </a:prstGeom>
          <a:noFill/>
          <a:ln/>
        </p:spPr>
        <p:txBody>
          <a:bodyPr wrap="square" lIns="0" tIns="0" rIns="0" bIns="0" rtlCol="0" anchor="ctr"/>
          <a:lstStyle/>
          <a:p>
            <a:pPr indent="0" marL="0">
              <a:buNone/>
            </a:pPr>
            <a:r>
              <a:rPr lang="en-US" sz="1400" b="1" dirty="0">
                <a:solidFill>
                  <a:srgbClr val="6D28D9"/>
                </a:solidFill>
                <a:latin typeface="Segoe UI" pitchFamily="34" charset="0"/>
                <a:ea typeface="Segoe UI" pitchFamily="34" charset="-122"/>
                <a:cs typeface="Segoe UI" pitchFamily="34" charset="-120"/>
              </a:rPr>
              <a:t>Objective</a:t>
            </a:r>
            <a:endParaRPr lang="en-US" sz="1400" dirty="0"/>
          </a:p>
        </p:txBody>
      </p:sp>
      <p:sp>
        <p:nvSpPr>
          <p:cNvPr id="9" name="objective formula"/>
          <p:cNvSpPr txBox="1"/>
          <p:nvPr/>
        </p:nvSpPr>
        <p:spPr>
          <a:xfrm>
            <a:off x="2468880" y="2816352"/>
            <a:ext cx="8503920" cy="365760"/>
          </a:xfrm>
          <a:prstGeom prst="rect">
            <a:avLst/>
          </a:prstGeom>
          <a:noFill/>
          <a:ln/>
        </p:spPr>
        <p:txBody>
          <a:bodyPr wrap="square" lIns="0" tIns="0" rIns="0" bIns="0" rtlCol="0" anchor="ctr"/>
          <a:lstStyle/>
          <a:p>
            <a:pPr indent="0" marL="0">
              <a:buNone/>
            </a:pPr>
            <a:r>
              <a:rPr lang="en-US" sz="1700" dirty="0">
                <a:solidFill>
                  <a:srgbClr val="111111"/>
                </a:solidFill>
                <a:latin typeface="Cambria Math" pitchFamily="34" charset="0"/>
                <a:ea typeface="Cambria Math" pitchFamily="34" charset="-122"/>
                <a:cs typeface="Cambria Math" pitchFamily="34" charset="-120"/>
              </a:rPr>
              <a:t>F(x) = Σ wⱼ tᵤⱼ xᵤⱼ + Σ Uⱼ (1 − Σᵤ xᵤⱼ) + λ Σᵤ cᵤ yᵤ + λ Σ g(a,b) · y(a) · y(b)</a:t>
            </a:r>
            <a:endParaRPr lang="en-US" sz="1700" dirty="0"/>
          </a:p>
        </p:txBody>
      </p:sp>
      <p:sp>
        <p:nvSpPr>
          <p:cNvPr id="10" name="objective note"/>
          <p:cNvSpPr txBox="1"/>
          <p:nvPr/>
        </p:nvSpPr>
        <p:spPr>
          <a:xfrm>
            <a:off x="2468880" y="3191256"/>
            <a:ext cx="8503920" cy="256032"/>
          </a:xfrm>
          <a:prstGeom prst="rect">
            <a:avLst/>
          </a:prstGeom>
          <a:noFill/>
          <a:ln/>
        </p:spPr>
        <p:txBody>
          <a:bodyPr wrap="square" lIns="0" tIns="0" rIns="0" bIns="0" rtlCol="0" anchor="ctr"/>
          <a:lstStyle/>
          <a:p>
            <a:pPr indent="0" marL="0">
              <a:buNone/>
            </a:pPr>
            <a:r>
              <a:rPr lang="en-US" sz="1150" dirty="0">
                <a:solidFill>
                  <a:srgbClr val="4A4A5A"/>
                </a:solidFill>
                <a:latin typeface="Segoe UI" pitchFamily="34" charset="0"/>
                <a:ea typeface="Segoe UI" pitchFamily="34" charset="-122"/>
                <a:cs typeface="Segoe UI" pitchFamily="34" charset="-120"/>
              </a:rPr>
              <a:t>Priority × travel, unserved-call penalty Uⱼ, coverage a unit holds alone (cᵤ) or with its backup partner (g)</a:t>
            </a:r>
            <a:endParaRPr lang="en-US" sz="1150" dirty="0"/>
          </a:p>
        </p:txBody>
      </p:sp>
      <p:sp>
        <p:nvSpPr>
          <p:cNvPr id="11" name="constraints label"/>
          <p:cNvSpPr txBox="1"/>
          <p:nvPr/>
        </p:nvSpPr>
        <p:spPr>
          <a:xfrm>
            <a:off x="731520" y="3511296"/>
            <a:ext cx="1737360" cy="329184"/>
          </a:xfrm>
          <a:prstGeom prst="rect">
            <a:avLst/>
          </a:prstGeom>
          <a:noFill/>
          <a:ln/>
        </p:spPr>
        <p:txBody>
          <a:bodyPr wrap="square" lIns="0" tIns="0" rIns="0" bIns="0" rtlCol="0" anchor="ctr"/>
          <a:lstStyle/>
          <a:p>
            <a:pPr indent="0" marL="0">
              <a:buNone/>
            </a:pPr>
            <a:r>
              <a:rPr lang="en-US" sz="1400" b="1" dirty="0">
                <a:solidFill>
                  <a:srgbClr val="6D28D9"/>
                </a:solidFill>
                <a:latin typeface="Segoe UI" pitchFamily="34" charset="0"/>
                <a:ea typeface="Segoe UI" pitchFamily="34" charset="-122"/>
                <a:cs typeface="Segoe UI" pitchFamily="34" charset="-120"/>
              </a:rPr>
              <a:t>Constraints</a:t>
            </a:r>
            <a:endParaRPr lang="en-US" sz="1400" dirty="0"/>
          </a:p>
        </p:txBody>
      </p:sp>
      <p:sp>
        <p:nvSpPr>
          <p:cNvPr id="12" name="constraints formula"/>
          <p:cNvSpPr txBox="1"/>
          <p:nvPr/>
        </p:nvSpPr>
        <p:spPr>
          <a:xfrm>
            <a:off x="2468880" y="3474720"/>
            <a:ext cx="8503920" cy="365760"/>
          </a:xfrm>
          <a:prstGeom prst="rect">
            <a:avLst/>
          </a:prstGeom>
          <a:noFill/>
          <a:ln/>
        </p:spPr>
        <p:txBody>
          <a:bodyPr wrap="square" lIns="0" tIns="0" rIns="0" bIns="0" rtlCol="0" anchor="ctr"/>
          <a:lstStyle/>
          <a:p>
            <a:pPr indent="0" marL="0">
              <a:buNone/>
            </a:pPr>
            <a:r>
              <a:rPr lang="en-US" sz="1800" dirty="0">
                <a:solidFill>
                  <a:srgbClr val="111111"/>
                </a:solidFill>
                <a:latin typeface="Cambria Math" pitchFamily="34" charset="0"/>
                <a:ea typeface="Cambria Math" pitchFamily="34" charset="-122"/>
                <a:cs typeface="Cambria Math" pitchFamily="34" charset="-120"/>
              </a:rPr>
              <a:t>Σⱼ xᵤⱼ ≤ 1  (one call per ambulance)       Σᵤ xᵤⱼ ≤ 1  (one ambulance per call)</a:t>
            </a:r>
            <a:endParaRPr lang="en-US" sz="1800" dirty="0"/>
          </a:p>
        </p:txBody>
      </p:sp>
      <p:sp>
        <p:nvSpPr>
          <p:cNvPr id="13" name="constraints note"/>
          <p:cNvSpPr txBox="1"/>
          <p:nvPr/>
        </p:nvSpPr>
        <p:spPr>
          <a:xfrm>
            <a:off x="2468880" y="3849624"/>
            <a:ext cx="8503920" cy="256032"/>
          </a:xfrm>
          <a:prstGeom prst="rect">
            <a:avLst/>
          </a:prstGeom>
          <a:noFill/>
          <a:ln/>
        </p:spPr>
        <p:txBody>
          <a:bodyPr wrap="square" lIns="0" tIns="0" rIns="0" bIns="0" rtlCol="0" anchor="ctr"/>
          <a:lstStyle/>
          <a:p>
            <a:pPr indent="0" marL="0">
              <a:buNone/>
            </a:pPr>
            <a:r>
              <a:rPr lang="en-US" sz="1150" dirty="0">
                <a:solidFill>
                  <a:srgbClr val="4A4A5A"/>
                </a:solidFill>
                <a:latin typeface="Segoe UI" pitchFamily="34" charset="0"/>
                <a:ea typeface="Segoe UI" pitchFamily="34" charset="-122"/>
                <a:cs typeface="Segoe UI" pitchFamily="34" charset="-120"/>
              </a:rPr>
              <a:t>yᵤ = Σⱼ xᵤⱼ says whether ambulance u leaves its station</a:t>
            </a:r>
            <a:endParaRPr lang="en-US" sz="1150" dirty="0"/>
          </a:p>
        </p:txBody>
      </p:sp>
      <p:sp>
        <p:nvSpPr>
          <p:cNvPr id="14" name="qubo card"/>
          <p:cNvSpPr/>
          <p:nvPr/>
        </p:nvSpPr>
        <p:spPr>
          <a:xfrm>
            <a:off x="731520" y="4206240"/>
            <a:ext cx="10241280" cy="1920240"/>
          </a:xfrm>
          <a:prstGeom prst="roundRect">
            <a:avLst>
              <a:gd name="adj" fmla="val 5714"/>
            </a:avLst>
          </a:prstGeom>
          <a:solidFill>
            <a:srgbClr val="FFFFFF"/>
          </a:solidFill>
          <a:ln w="9525">
            <a:solidFill>
              <a:srgbClr val="CFCBDD"/>
            </a:solidFill>
            <a:prstDash val="solid"/>
          </a:ln>
        </p:spPr>
      </p:sp>
      <p:sp>
        <p:nvSpPr>
          <p:cNvPr id="15" name="qubo label"/>
          <p:cNvSpPr txBox="1"/>
          <p:nvPr/>
        </p:nvSpPr>
        <p:spPr>
          <a:xfrm>
            <a:off x="960120" y="4315968"/>
            <a:ext cx="4572000" cy="237744"/>
          </a:xfrm>
          <a:prstGeom prst="rect">
            <a:avLst/>
          </a:prstGeom>
          <a:noFill/>
          <a:ln/>
        </p:spPr>
        <p:txBody>
          <a:bodyPr wrap="square" lIns="0" tIns="0" rIns="0" bIns="0" rtlCol="0" anchor="ctr"/>
          <a:lstStyle/>
          <a:p>
            <a:pPr indent="0" marL="0">
              <a:buNone/>
            </a:pPr>
            <a:r>
              <a:rPr lang="en-US" sz="1050" b="1" spc="200" kern="0" dirty="0">
                <a:solidFill>
                  <a:srgbClr val="6D28D9"/>
                </a:solidFill>
                <a:latin typeface="Segoe UI" pitchFamily="34" charset="0"/>
                <a:ea typeface="Segoe UI" pitchFamily="34" charset="-122"/>
                <a:cs typeface="Segoe UI" pitchFamily="34" charset="-120"/>
              </a:rPr>
              <a:t>QUBO WE SEND TO QAOA</a:t>
            </a:r>
            <a:endParaRPr lang="en-US" sz="1050" dirty="0"/>
          </a:p>
        </p:txBody>
      </p:sp>
      <p:sp>
        <p:nvSpPr>
          <p:cNvPr id="16" name="qubo formula"/>
          <p:cNvSpPr txBox="1"/>
          <p:nvPr/>
        </p:nvSpPr>
        <p:spPr>
          <a:xfrm>
            <a:off x="960120" y="4572000"/>
            <a:ext cx="5120640" cy="457200"/>
          </a:xfrm>
          <a:prstGeom prst="rect">
            <a:avLst/>
          </a:prstGeom>
          <a:noFill/>
          <a:ln/>
        </p:spPr>
        <p:txBody>
          <a:bodyPr wrap="square" lIns="0" tIns="0" rIns="0" bIns="0" rtlCol="0" anchor="ctr"/>
          <a:lstStyle/>
          <a:p>
            <a:pPr indent="0" marL="0">
              <a:buNone/>
            </a:pPr>
            <a:r>
              <a:rPr lang="en-US" sz="2300" dirty="0">
                <a:solidFill>
                  <a:srgbClr val="111111"/>
                </a:solidFill>
                <a:latin typeface="Cambria Math" pitchFamily="34" charset="0"/>
                <a:ea typeface="Cambria Math" pitchFamily="34" charset="-122"/>
                <a:cs typeface="Cambria Math" pitchFamily="34" charset="-120"/>
              </a:rPr>
              <a:t>H(x) = Σₖ hₖ xₖ + Σₖ,ₗ Jₖₗ xₖ xₗ</a:t>
            </a:r>
            <a:endParaRPr lang="en-US" sz="2300" dirty="0"/>
          </a:p>
        </p:txBody>
      </p:sp>
      <p:sp>
        <p:nvSpPr>
          <p:cNvPr id="17" name="qubo terms"/>
          <p:cNvSpPr txBox="1"/>
          <p:nvPr/>
        </p:nvSpPr>
        <p:spPr>
          <a:xfrm>
            <a:off x="960120" y="5074920"/>
            <a:ext cx="5120640" cy="1005840"/>
          </a:xfrm>
          <a:prstGeom prst="rect">
            <a:avLst/>
          </a:prstGeom>
          <a:noFill/>
          <a:ln/>
        </p:spPr>
        <p:txBody>
          <a:bodyPr wrap="square" lIns="0" tIns="0" rIns="0" bIns="0" rtlCol="0" anchor="t"/>
          <a:lstStyle/>
          <a:p>
            <a:pPr indent="0" marL="0">
              <a:buNone/>
            </a:pPr>
            <a:r>
              <a:rPr lang="en-US" sz="1450" dirty="0">
                <a:solidFill>
                  <a:srgbClr val="111111"/>
                </a:solidFill>
                <a:latin typeface="Cambria Math" pitchFamily="34" charset="0"/>
                <a:ea typeface="Cambria Math" pitchFamily="34" charset="-122"/>
                <a:cs typeface="Cambria Math" pitchFamily="34" charset="-120"/>
              </a:rPr>
              <a:t>hₖ = wⱼ tᵤⱼ − Uⱼ + λ cᵤ</a:t>
            </a:r>
            <a:endParaRPr lang="en-US" sz="1450" dirty="0"/>
          </a:p>
          <a:p>
            <a:pPr indent="0" marL="0">
              <a:buNone/>
            </a:pPr>
            <a:r>
              <a:rPr lang="en-US" sz="1450" dirty="0">
                <a:solidFill>
                  <a:srgbClr val="111111"/>
                </a:solidFill>
                <a:latin typeface="Cambria Math" pitchFamily="34" charset="0"/>
                <a:ea typeface="Cambria Math" pitchFamily="34" charset="-122"/>
                <a:cs typeface="Cambria Math" pitchFamily="34" charset="-120"/>
              </a:rPr>
              <a:t>Jₖₗ = P  if same ambulance or same call</a:t>
            </a:r>
            <a:endParaRPr lang="en-US" sz="1450" dirty="0"/>
          </a:p>
          <a:p>
            <a:pPr indent="0" marL="0">
              <a:buNone/>
            </a:pPr>
            <a:r>
              <a:rPr lang="en-US" sz="1450" dirty="0">
                <a:solidFill>
                  <a:srgbClr val="111111"/>
                </a:solidFill>
                <a:latin typeface="Cambria Math" pitchFamily="34" charset="0"/>
                <a:ea typeface="Cambria Math" pitchFamily="34" charset="-122"/>
                <a:cs typeface="Cambria Math" pitchFamily="34" charset="-120"/>
              </a:rPr>
              <a:t>Jₖₗ += λ g(a,b)  if a, b are backup partners</a:t>
            </a:r>
            <a:endParaRPr lang="en-US" sz="1450" dirty="0"/>
          </a:p>
        </p:txBody>
      </p:sp>
      <p:sp>
        <p:nvSpPr>
          <p:cNvPr id="18" name="penalty and ising"/>
          <p:cNvSpPr txBox="1"/>
          <p:nvPr/>
        </p:nvSpPr>
        <p:spPr>
          <a:xfrm>
            <a:off x="6172200" y="4389120"/>
            <a:ext cx="4617720" cy="1691640"/>
          </a:xfrm>
          <a:prstGeom prst="rect">
            <a:avLst/>
          </a:prstGeom>
          <a:noFill/>
          <a:ln/>
        </p:spPr>
        <p:txBody>
          <a:bodyPr wrap="square" lIns="0" tIns="0" rIns="0" bIns="0" rtlCol="0" anchor="t"/>
          <a:lstStyle/>
          <a:p>
            <a:pPr indent="0" marL="0">
              <a:spcAft>
                <a:spcPts val="300"/>
              </a:spcAft>
              <a:buNone/>
            </a:pPr>
            <a:r>
              <a:rPr lang="en-US" sz="1600" dirty="0">
                <a:solidFill>
                  <a:srgbClr val="111111"/>
                </a:solidFill>
                <a:latin typeface="Cambria Math" pitchFamily="34" charset="0"/>
                <a:ea typeface="Cambria Math" pitchFamily="34" charset="-122"/>
                <a:cs typeface="Cambria Math" pitchFamily="34" charset="-120"/>
              </a:rPr>
              <a:t>Penalty P = max (Uⱼ − wⱼ tᵤⱼ) + 1</a:t>
            </a:r>
            <a:endParaRPr lang="en-US" sz="1600" dirty="0"/>
          </a:p>
          <a:p>
            <a:pPr indent="0" marL="0">
              <a:spcAft>
                <a:spcPts val="300"/>
              </a:spcAft>
              <a:buNone/>
            </a:pPr>
            <a:r>
              <a:rPr lang="en-US" sz="1250" dirty="0">
                <a:solidFill>
                  <a:srgbClr val="4A4A5A"/>
                </a:solidFill>
                <a:latin typeface="Segoe UI" pitchFamily="34" charset="0"/>
                <a:ea typeface="Segoe UI" pitchFamily="34" charset="-122"/>
                <a:cs typeface="Segoe UI" pitchFamily="34" charset="-120"/>
              </a:rPr>
              <a:t>The smallest value that provably makes every minimum a valid plan.</a:t>
            </a:r>
            <a:endParaRPr lang="en-US" sz="1600" dirty="0"/>
          </a:p>
          <a:p>
            <a:pPr indent="0" marL="0">
              <a:spcAft>
                <a:spcPts val="300"/>
              </a:spcAft>
              <a:buNone/>
            </a:pPr>
            <a:r>
              <a:rPr lang="en-US" sz="1600" dirty="0">
                <a:solidFill>
                  <a:srgbClr val="111111"/>
                </a:solidFill>
                <a:latin typeface="Cambria Math" pitchFamily="34" charset="0"/>
                <a:ea typeface="Cambria Math" pitchFamily="34" charset="-122"/>
                <a:cs typeface="Cambria Math" pitchFamily="34" charset="-120"/>
              </a:rPr>
              <a:t>To qubits:  xₖ = (1 − Zₖ) / 2</a:t>
            </a:r>
            <a:endParaRPr lang="en-US" sz="1600" dirty="0"/>
          </a:p>
          <a:p>
            <a:pPr indent="0" marL="0">
              <a:spcAft>
                <a:spcPts val="300"/>
              </a:spcAft>
              <a:buNone/>
            </a:pPr>
            <a:r>
              <a:rPr lang="en-US" sz="1250" dirty="0">
                <a:solidFill>
                  <a:srgbClr val="4A4A5A"/>
                </a:solidFill>
                <a:latin typeface="Segoe UI" pitchFamily="34" charset="0"/>
                <a:ea typeface="Segoe UI" pitchFamily="34" charset="-122"/>
                <a:cs typeface="Segoe UI" pitchFamily="34" charset="-120"/>
              </a:rPr>
              <a:t>gives C = Σ h′ₖ Zₖ + Σ J′ₖₗ Zₖ Zₗ, the Hamiltonian QAOA runs.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pill"/>
          <p:cNvSpPr/>
          <p:nvPr/>
        </p:nvSpPr>
        <p:spPr>
          <a:xfrm>
            <a:off x="5193792" y="681228"/>
            <a:ext cx="2103120"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5193792" y="681228"/>
            <a:ext cx="2103120"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Why Quantum?</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QAOA explores </a:t>
            </a:r>
            <a:pPr algn="ctr" indent="0" marL="0">
              <a:buNone/>
            </a:pPr>
            <a:r>
              <a:rPr lang="en-US" sz="2500" b="1" dirty="0">
                <a:solidFill>
                  <a:srgbClr val="FF66C4"/>
                </a:solidFill>
                <a:latin typeface="Segoe UI" pitchFamily="34" charset="0"/>
                <a:ea typeface="Segoe UI" pitchFamily="34" charset="-122"/>
                <a:cs typeface="Segoe UI" pitchFamily="34" charset="-120"/>
              </a:rPr>
              <a:t>all dispatch plans at once</a:t>
            </a:r>
            <a:pPr algn="ctr" indent="0" marL="0">
              <a:buNone/>
            </a:pPr>
            <a:r>
              <a:rPr lang="en-US" sz="2500" b="1" dirty="0">
                <a:solidFill>
                  <a:srgbClr val="111111"/>
                </a:solidFill>
                <a:latin typeface="Segoe UI" pitchFamily="34" charset="0"/>
                <a:ea typeface="Segoe UI" pitchFamily="34" charset="-122"/>
                <a:cs typeface="Segoe UI" pitchFamily="34" charset="-120"/>
              </a:rPr>
              <a:t>: our real 4-qubit circuit</a:t>
            </a:r>
            <a:endParaRPr lang="en-US" sz="2500" dirty="0"/>
          </a:p>
        </p:txBody>
      </p:sp>
      <p:sp>
        <p:nvSpPr>
          <p:cNvPr id="5" name="qaoa circuit frame"/>
          <p:cNvSpPr/>
          <p:nvPr/>
        </p:nvSpPr>
        <p:spPr>
          <a:xfrm>
            <a:off x="731520" y="2130552"/>
            <a:ext cx="10241280" cy="1974269"/>
          </a:xfrm>
          <a:prstGeom prst="roundRect">
            <a:avLst>
              <a:gd name="adj" fmla="val 4632"/>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6" name="qaoa circuit" descr="Our circuit for the 4-qubit problem, depth p = 1, drawn by Qiskit · qubit q2 = A3 → C1, the best plan">    </p:cNvPr>
          <p:cNvPicPr>
            <a:picLocks noChangeAspect="1"/>
          </p:cNvPicPr>
          <p:nvPr/>
        </p:nvPicPr>
        <p:blipFill>
          <a:blip r:embed="rId1"/>
          <a:stretch>
            <a:fillRect/>
          </a:stretch>
        </p:blipFill>
        <p:spPr>
          <a:xfrm>
            <a:off x="795528" y="2194560"/>
            <a:ext cx="10113264" cy="1846253"/>
          </a:xfrm>
          <a:prstGeom prst="rect">
            <a:avLst/>
          </a:prstGeom>
        </p:spPr>
      </p:pic>
      <p:sp>
        <p:nvSpPr>
          <p:cNvPr id="7" name="qaoa circuit tag"/>
          <p:cNvSpPr txBox="1"/>
          <p:nvPr/>
        </p:nvSpPr>
        <p:spPr>
          <a:xfrm>
            <a:off x="795528" y="4150541"/>
            <a:ext cx="10113264"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Our circuit for the 4-qubit problem, depth p = 1, drawn by Qiskit · qubit q2 = A3 → C1, the best plan</a:t>
            </a:r>
            <a:endParaRPr lang="en-US" sz="1100" dirty="0"/>
          </a:p>
        </p:txBody>
      </p:sp>
      <p:sp>
        <p:nvSpPr>
          <p:cNvPr id="8" name="qaoa formula"/>
          <p:cNvSpPr txBox="1"/>
          <p:nvPr/>
        </p:nvSpPr>
        <p:spPr>
          <a:xfrm>
            <a:off x="731520" y="4452293"/>
            <a:ext cx="10241280" cy="365760"/>
          </a:xfrm>
          <a:prstGeom prst="rect">
            <a:avLst/>
          </a:prstGeom>
          <a:noFill/>
          <a:ln/>
        </p:spPr>
        <p:txBody>
          <a:bodyPr wrap="square" lIns="0" tIns="0" rIns="0" bIns="0" rtlCol="0" anchor="ctr"/>
          <a:lstStyle/>
          <a:p>
            <a:pPr indent="0" marL="0">
              <a:buNone/>
            </a:pPr>
            <a:r>
              <a:rPr lang="en-US" sz="1700" dirty="0">
                <a:solidFill>
                  <a:srgbClr val="6D28D9"/>
                </a:solidFill>
                <a:latin typeface="Cambria Math" pitchFamily="34" charset="0"/>
                <a:ea typeface="Cambria Math" pitchFamily="34" charset="-122"/>
                <a:cs typeface="Cambria Math" pitchFamily="34" charset="-120"/>
              </a:rPr>
              <a:t>|ψ(γ, β)⟩ = Πₗ exp(−iβₗ B) exp(−iγₗ C) |+⟩⊗ⁿ      B = Σₖ Xₖ      minimise ⟨ψ| C |ψ⟩ over γ, β</a:t>
            </a:r>
            <a:endParaRPr lang="en-US" sz="1700" dirty="0"/>
          </a:p>
        </p:txBody>
      </p:sp>
      <p:sp>
        <p:nvSpPr>
          <p:cNvPr id="9" name="qaoa step 1 circle"/>
          <p:cNvSpPr/>
          <p:nvPr/>
        </p:nvSpPr>
        <p:spPr>
          <a:xfrm>
            <a:off x="731520" y="4955213"/>
            <a:ext cx="384048" cy="384048"/>
          </a:xfrm>
          <a:prstGeom prst="ellipse">
            <a:avLst/>
          </a:prstGeom>
          <a:solidFill>
            <a:srgbClr val="6D28D9"/>
          </a:solidFill>
          <a:ln w="12700">
            <a:solidFill>
              <a:srgbClr val="6D28D9"/>
            </a:solidFill>
            <a:prstDash val="solid"/>
          </a:ln>
        </p:spPr>
      </p:sp>
      <p:sp>
        <p:nvSpPr>
          <p:cNvPr id="10" name="qaoa step 1 number"/>
          <p:cNvSpPr txBox="1"/>
          <p:nvPr/>
        </p:nvSpPr>
        <p:spPr>
          <a:xfrm>
            <a:off x="731520" y="4955213"/>
            <a:ext cx="384048" cy="384048"/>
          </a:xfrm>
          <a:prstGeom prst="rect">
            <a:avLst/>
          </a:prstGeom>
          <a:noFill/>
          <a:ln/>
        </p:spPr>
        <p:txBody>
          <a:bodyPr wrap="square" lIns="0" tIns="0" rIns="0" bIns="0" rtlCol="0" anchor="ctr"/>
          <a:lstStyle/>
          <a:p>
            <a:pPr algn="ctr" indent="0" marL="0">
              <a:buNone/>
            </a:pPr>
            <a:r>
              <a:rPr lang="en-US" sz="1008" b="1" dirty="0">
                <a:solidFill>
                  <a:srgbClr val="FFFFFF"/>
                </a:solidFill>
                <a:latin typeface="Segoe UI" pitchFamily="34" charset="0"/>
                <a:ea typeface="Segoe UI" pitchFamily="34" charset="-122"/>
                <a:cs typeface="Segoe UI" pitchFamily="34" charset="-120"/>
              </a:rPr>
              <a:t>1</a:t>
            </a:r>
            <a:endParaRPr lang="en-US" sz="1008" dirty="0"/>
          </a:p>
        </p:txBody>
      </p:sp>
      <p:sp>
        <p:nvSpPr>
          <p:cNvPr id="11" name="qaoa step 1 head"/>
          <p:cNvSpPr txBox="1"/>
          <p:nvPr/>
        </p:nvSpPr>
        <p:spPr>
          <a:xfrm>
            <a:off x="1207008" y="4982645"/>
            <a:ext cx="1913382" cy="329184"/>
          </a:xfrm>
          <a:prstGeom prst="rect">
            <a:avLst/>
          </a:prstGeom>
          <a:noFill/>
          <a:ln/>
        </p:spPr>
        <p:txBody>
          <a:bodyPr wrap="square" lIns="0" tIns="0" rIns="0" bIns="0" rtlCol="0" anchor="ctr"/>
          <a:lstStyle/>
          <a:p>
            <a:pPr indent="0" marL="0">
              <a:buNone/>
            </a:pPr>
            <a:r>
              <a:rPr lang="en-US" sz="1450" b="1" dirty="0">
                <a:solidFill>
                  <a:srgbClr val="2B237C"/>
                </a:solidFill>
                <a:latin typeface="Segoe UI" pitchFamily="34" charset="0"/>
                <a:ea typeface="Segoe UI" pitchFamily="34" charset="-122"/>
                <a:cs typeface="Segoe UI" pitchFamily="34" charset="-120"/>
              </a:rPr>
              <a:t>Superpose</a:t>
            </a:r>
            <a:endParaRPr lang="en-US" sz="1450" dirty="0"/>
          </a:p>
        </p:txBody>
      </p:sp>
      <p:sp>
        <p:nvSpPr>
          <p:cNvPr id="12" name="qaoa step 1 text"/>
          <p:cNvSpPr txBox="1"/>
          <p:nvPr/>
        </p:nvSpPr>
        <p:spPr>
          <a:xfrm>
            <a:off x="731520" y="5412413"/>
            <a:ext cx="238887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H on every qubit puts all 2ⁿ dispatch plans in play</a:t>
            </a:r>
            <a:endParaRPr lang="en-US" sz="1250" dirty="0"/>
          </a:p>
        </p:txBody>
      </p:sp>
      <p:sp>
        <p:nvSpPr>
          <p:cNvPr id="13" name="qaoa step 2 circle"/>
          <p:cNvSpPr/>
          <p:nvPr/>
        </p:nvSpPr>
        <p:spPr>
          <a:xfrm>
            <a:off x="3348990" y="4955213"/>
            <a:ext cx="384048" cy="384048"/>
          </a:xfrm>
          <a:prstGeom prst="ellipse">
            <a:avLst/>
          </a:prstGeom>
          <a:solidFill>
            <a:srgbClr val="6D28D9"/>
          </a:solidFill>
          <a:ln w="12700">
            <a:solidFill>
              <a:srgbClr val="6D28D9"/>
            </a:solidFill>
            <a:prstDash val="solid"/>
          </a:ln>
        </p:spPr>
      </p:sp>
      <p:sp>
        <p:nvSpPr>
          <p:cNvPr id="14" name="qaoa step 2 number"/>
          <p:cNvSpPr txBox="1"/>
          <p:nvPr/>
        </p:nvSpPr>
        <p:spPr>
          <a:xfrm>
            <a:off x="3348990" y="4955213"/>
            <a:ext cx="384048" cy="384048"/>
          </a:xfrm>
          <a:prstGeom prst="rect">
            <a:avLst/>
          </a:prstGeom>
          <a:noFill/>
          <a:ln/>
        </p:spPr>
        <p:txBody>
          <a:bodyPr wrap="square" lIns="0" tIns="0" rIns="0" bIns="0" rtlCol="0" anchor="ctr"/>
          <a:lstStyle/>
          <a:p>
            <a:pPr algn="ctr" indent="0" marL="0">
              <a:buNone/>
            </a:pPr>
            <a:r>
              <a:rPr lang="en-US" sz="1008" b="1" dirty="0">
                <a:solidFill>
                  <a:srgbClr val="FFFFFF"/>
                </a:solidFill>
                <a:latin typeface="Segoe UI" pitchFamily="34" charset="0"/>
                <a:ea typeface="Segoe UI" pitchFamily="34" charset="-122"/>
                <a:cs typeface="Segoe UI" pitchFamily="34" charset="-120"/>
              </a:rPr>
              <a:t>2</a:t>
            </a:r>
            <a:endParaRPr lang="en-US" sz="1008" dirty="0"/>
          </a:p>
        </p:txBody>
      </p:sp>
      <p:sp>
        <p:nvSpPr>
          <p:cNvPr id="15" name="qaoa step 2 head"/>
          <p:cNvSpPr txBox="1"/>
          <p:nvPr/>
        </p:nvSpPr>
        <p:spPr>
          <a:xfrm>
            <a:off x="3824478" y="4982645"/>
            <a:ext cx="1913382" cy="329184"/>
          </a:xfrm>
          <a:prstGeom prst="rect">
            <a:avLst/>
          </a:prstGeom>
          <a:noFill/>
          <a:ln/>
        </p:spPr>
        <p:txBody>
          <a:bodyPr wrap="square" lIns="0" tIns="0" rIns="0" bIns="0" rtlCol="0" anchor="ctr"/>
          <a:lstStyle/>
          <a:p>
            <a:pPr indent="0" marL="0">
              <a:buNone/>
            </a:pPr>
            <a:r>
              <a:rPr lang="en-US" sz="1450" b="1" dirty="0">
                <a:solidFill>
                  <a:srgbClr val="2B237C"/>
                </a:solidFill>
                <a:latin typeface="Segoe UI" pitchFamily="34" charset="0"/>
                <a:ea typeface="Segoe UI" pitchFamily="34" charset="-122"/>
                <a:cs typeface="Segoe UI" pitchFamily="34" charset="-120"/>
              </a:rPr>
              <a:t>Cost layer</a:t>
            </a:r>
            <a:endParaRPr lang="en-US" sz="1450" dirty="0"/>
          </a:p>
        </p:txBody>
      </p:sp>
      <p:sp>
        <p:nvSpPr>
          <p:cNvPr id="16" name="qaoa step 2 text"/>
          <p:cNvSpPr txBox="1"/>
          <p:nvPr/>
        </p:nvSpPr>
        <p:spPr>
          <a:xfrm>
            <a:off x="3348990" y="5412413"/>
            <a:ext cx="238887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RZ and RZZ write each plan's cost into its phase</a:t>
            </a:r>
            <a:endParaRPr lang="en-US" sz="1250" dirty="0"/>
          </a:p>
        </p:txBody>
      </p:sp>
      <p:sp>
        <p:nvSpPr>
          <p:cNvPr id="17" name="qaoa step 3 circle"/>
          <p:cNvSpPr/>
          <p:nvPr/>
        </p:nvSpPr>
        <p:spPr>
          <a:xfrm>
            <a:off x="5966460" y="4955213"/>
            <a:ext cx="384048" cy="384048"/>
          </a:xfrm>
          <a:prstGeom prst="ellipse">
            <a:avLst/>
          </a:prstGeom>
          <a:solidFill>
            <a:srgbClr val="6D28D9"/>
          </a:solidFill>
          <a:ln w="12700">
            <a:solidFill>
              <a:srgbClr val="6D28D9"/>
            </a:solidFill>
            <a:prstDash val="solid"/>
          </a:ln>
        </p:spPr>
      </p:sp>
      <p:sp>
        <p:nvSpPr>
          <p:cNvPr id="18" name="qaoa step 3 number"/>
          <p:cNvSpPr txBox="1"/>
          <p:nvPr/>
        </p:nvSpPr>
        <p:spPr>
          <a:xfrm>
            <a:off x="5966460" y="4955213"/>
            <a:ext cx="384048" cy="384048"/>
          </a:xfrm>
          <a:prstGeom prst="rect">
            <a:avLst/>
          </a:prstGeom>
          <a:noFill/>
          <a:ln/>
        </p:spPr>
        <p:txBody>
          <a:bodyPr wrap="square" lIns="0" tIns="0" rIns="0" bIns="0" rtlCol="0" anchor="ctr"/>
          <a:lstStyle/>
          <a:p>
            <a:pPr algn="ctr" indent="0" marL="0">
              <a:buNone/>
            </a:pPr>
            <a:r>
              <a:rPr lang="en-US" sz="1008" b="1" dirty="0">
                <a:solidFill>
                  <a:srgbClr val="FFFFFF"/>
                </a:solidFill>
                <a:latin typeface="Segoe UI" pitchFamily="34" charset="0"/>
                <a:ea typeface="Segoe UI" pitchFamily="34" charset="-122"/>
                <a:cs typeface="Segoe UI" pitchFamily="34" charset="-120"/>
              </a:rPr>
              <a:t>3</a:t>
            </a:r>
            <a:endParaRPr lang="en-US" sz="1008" dirty="0"/>
          </a:p>
        </p:txBody>
      </p:sp>
      <p:sp>
        <p:nvSpPr>
          <p:cNvPr id="19" name="qaoa step 3 head"/>
          <p:cNvSpPr txBox="1"/>
          <p:nvPr/>
        </p:nvSpPr>
        <p:spPr>
          <a:xfrm>
            <a:off x="6441948" y="4982645"/>
            <a:ext cx="1913382" cy="329184"/>
          </a:xfrm>
          <a:prstGeom prst="rect">
            <a:avLst/>
          </a:prstGeom>
          <a:noFill/>
          <a:ln/>
        </p:spPr>
        <p:txBody>
          <a:bodyPr wrap="square" lIns="0" tIns="0" rIns="0" bIns="0" rtlCol="0" anchor="ctr"/>
          <a:lstStyle/>
          <a:p>
            <a:pPr indent="0" marL="0">
              <a:buNone/>
            </a:pPr>
            <a:r>
              <a:rPr lang="en-US" sz="1450" b="1" dirty="0">
                <a:solidFill>
                  <a:srgbClr val="2B237C"/>
                </a:solidFill>
                <a:latin typeface="Segoe UI" pitchFamily="34" charset="0"/>
                <a:ea typeface="Segoe UI" pitchFamily="34" charset="-122"/>
                <a:cs typeface="Segoe UI" pitchFamily="34" charset="-120"/>
              </a:rPr>
              <a:t>Mixer</a:t>
            </a:r>
            <a:endParaRPr lang="en-US" sz="1450" dirty="0"/>
          </a:p>
        </p:txBody>
      </p:sp>
      <p:sp>
        <p:nvSpPr>
          <p:cNvPr id="20" name="qaoa step 3 text"/>
          <p:cNvSpPr txBox="1"/>
          <p:nvPr/>
        </p:nvSpPr>
        <p:spPr>
          <a:xfrm>
            <a:off x="5966460" y="5412413"/>
            <a:ext cx="238887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RX lets plans interfere; low-cost plans gain probability</a:t>
            </a:r>
            <a:endParaRPr lang="en-US" sz="1250" dirty="0"/>
          </a:p>
        </p:txBody>
      </p:sp>
      <p:sp>
        <p:nvSpPr>
          <p:cNvPr id="21" name="qaoa step 4 circle"/>
          <p:cNvSpPr/>
          <p:nvPr/>
        </p:nvSpPr>
        <p:spPr>
          <a:xfrm>
            <a:off x="8583930" y="4955213"/>
            <a:ext cx="384048" cy="384048"/>
          </a:xfrm>
          <a:prstGeom prst="ellipse">
            <a:avLst/>
          </a:prstGeom>
          <a:solidFill>
            <a:srgbClr val="1E9AA8"/>
          </a:solidFill>
          <a:ln w="12700">
            <a:solidFill>
              <a:srgbClr val="1E9AA8"/>
            </a:solidFill>
            <a:prstDash val="solid"/>
          </a:ln>
        </p:spPr>
      </p:sp>
      <p:sp>
        <p:nvSpPr>
          <p:cNvPr id="22" name="qaoa step 4 number"/>
          <p:cNvSpPr txBox="1"/>
          <p:nvPr/>
        </p:nvSpPr>
        <p:spPr>
          <a:xfrm>
            <a:off x="8583930" y="4955213"/>
            <a:ext cx="384048" cy="384048"/>
          </a:xfrm>
          <a:prstGeom prst="rect">
            <a:avLst/>
          </a:prstGeom>
          <a:noFill/>
          <a:ln/>
        </p:spPr>
        <p:txBody>
          <a:bodyPr wrap="square" lIns="0" tIns="0" rIns="0" bIns="0" rtlCol="0" anchor="ctr"/>
          <a:lstStyle/>
          <a:p>
            <a:pPr algn="ctr" indent="0" marL="0">
              <a:buNone/>
            </a:pPr>
            <a:r>
              <a:rPr lang="en-US" sz="1008" b="1" dirty="0">
                <a:solidFill>
                  <a:srgbClr val="FFFFFF"/>
                </a:solidFill>
                <a:latin typeface="Segoe UI" pitchFamily="34" charset="0"/>
                <a:ea typeface="Segoe UI" pitchFamily="34" charset="-122"/>
                <a:cs typeface="Segoe UI" pitchFamily="34" charset="-120"/>
              </a:rPr>
              <a:t>4</a:t>
            </a:r>
            <a:endParaRPr lang="en-US" sz="1008" dirty="0"/>
          </a:p>
        </p:txBody>
      </p:sp>
      <p:sp>
        <p:nvSpPr>
          <p:cNvPr id="23" name="qaoa step 4 head"/>
          <p:cNvSpPr txBox="1"/>
          <p:nvPr/>
        </p:nvSpPr>
        <p:spPr>
          <a:xfrm>
            <a:off x="9059418" y="4982645"/>
            <a:ext cx="1913382" cy="329184"/>
          </a:xfrm>
          <a:prstGeom prst="rect">
            <a:avLst/>
          </a:prstGeom>
          <a:noFill/>
          <a:ln/>
        </p:spPr>
        <p:txBody>
          <a:bodyPr wrap="square" lIns="0" tIns="0" rIns="0" bIns="0" rtlCol="0" anchor="ctr"/>
          <a:lstStyle/>
          <a:p>
            <a:pPr indent="0" marL="0">
              <a:buNone/>
            </a:pPr>
            <a:r>
              <a:rPr lang="en-US" sz="1450" b="1" dirty="0">
                <a:solidFill>
                  <a:srgbClr val="2B237C"/>
                </a:solidFill>
                <a:latin typeface="Segoe UI" pitchFamily="34" charset="0"/>
                <a:ea typeface="Segoe UI" pitchFamily="34" charset="-122"/>
                <a:cs typeface="Segoe UI" pitchFamily="34" charset="-120"/>
              </a:rPr>
              <a:t>Optimise, measure</a:t>
            </a:r>
            <a:endParaRPr lang="en-US" sz="1450" dirty="0"/>
          </a:p>
        </p:txBody>
      </p:sp>
      <p:sp>
        <p:nvSpPr>
          <p:cNvPr id="24" name="qaoa step 4 text"/>
          <p:cNvSpPr txBox="1"/>
          <p:nvPr/>
        </p:nvSpPr>
        <p:spPr>
          <a:xfrm>
            <a:off x="8583930" y="5412413"/>
            <a:ext cx="238887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COBYLA tunes γ, β; 4,096 shots decoded to plans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pill"/>
          <p:cNvSpPr/>
          <p:nvPr/>
        </p:nvSpPr>
        <p:spPr>
          <a:xfrm>
            <a:off x="4914900" y="681228"/>
            <a:ext cx="2660904"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914900" y="681228"/>
            <a:ext cx="2660904"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Working Prototype</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A live web app: the </a:t>
            </a:r>
            <a:pPr algn="ctr" indent="0" marL="0">
              <a:buNone/>
            </a:pPr>
            <a:r>
              <a:rPr lang="en-US" sz="2500" b="1" dirty="0">
                <a:solidFill>
                  <a:srgbClr val="FF66C4"/>
                </a:solidFill>
                <a:latin typeface="Segoe UI" pitchFamily="34" charset="0"/>
                <a:ea typeface="Segoe UI" pitchFamily="34" charset="-122"/>
                <a:cs typeface="Segoe UI" pitchFamily="34" charset="-120"/>
              </a:rPr>
              <a:t>same problem</a:t>
            </a:r>
            <a:pPr algn="ctr" indent="0" marL="0">
              <a:buNone/>
            </a:pPr>
            <a:r>
              <a:rPr lang="en-US" sz="2500" b="1" dirty="0">
                <a:solidFill>
                  <a:srgbClr val="111111"/>
                </a:solidFill>
                <a:latin typeface="Segoe UI" pitchFamily="34" charset="0"/>
                <a:ea typeface="Segoe UI" pitchFamily="34" charset="-122"/>
                <a:cs typeface="Segoe UI" pitchFamily="34" charset="-120"/>
              </a:rPr>
              <a:t>, solved classically and on a real IBM quantum computer</a:t>
            </a:r>
            <a:endParaRPr lang="en-US" sz="2500" dirty="0"/>
          </a:p>
        </p:txBody>
      </p:sp>
      <p:sp>
        <p:nvSpPr>
          <p:cNvPr id="5" name="demo 1 circle"/>
          <p:cNvSpPr/>
          <p:nvPr/>
        </p:nvSpPr>
        <p:spPr>
          <a:xfrm>
            <a:off x="731520" y="2240280"/>
            <a:ext cx="457200" cy="457200"/>
          </a:xfrm>
          <a:prstGeom prst="ellipse">
            <a:avLst/>
          </a:prstGeom>
          <a:solidFill>
            <a:srgbClr val="6D28D9"/>
          </a:solidFill>
          <a:ln w="12700">
            <a:solidFill>
              <a:srgbClr val="6D28D9"/>
            </a:solidFill>
            <a:prstDash val="solid"/>
          </a:ln>
        </p:spPr>
      </p:sp>
      <p:sp>
        <p:nvSpPr>
          <p:cNvPr id="6" name="demo 1 number"/>
          <p:cNvSpPr txBox="1"/>
          <p:nvPr/>
        </p:nvSpPr>
        <p:spPr>
          <a:xfrm>
            <a:off x="731520" y="22402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7" name="demo 1 head"/>
          <p:cNvSpPr txBox="1"/>
          <p:nvPr/>
        </p:nvSpPr>
        <p:spPr>
          <a:xfrm>
            <a:off x="1371600" y="2221992"/>
            <a:ext cx="4023360" cy="310896"/>
          </a:xfrm>
          <a:prstGeom prst="rect">
            <a:avLst/>
          </a:prstGeom>
          <a:noFill/>
          <a:ln/>
        </p:spPr>
        <p:txBody>
          <a:bodyPr wrap="square" lIns="0" tIns="0" rIns="0" bIns="0" rtlCol="0" anchor="ctr"/>
          <a:lstStyle/>
          <a:p>
            <a:pPr indent="0" marL="0">
              <a:buNone/>
            </a:pPr>
            <a:r>
              <a:rPr lang="en-US" sz="1550" b="1" dirty="0">
                <a:solidFill>
                  <a:srgbClr val="2B237C"/>
                </a:solidFill>
                <a:latin typeface="Segoe UI" pitchFamily="34" charset="0"/>
                <a:ea typeface="Segoe UI" pitchFamily="34" charset="-122"/>
                <a:cs typeface="Segoe UI" pitchFamily="34" charset="-120"/>
              </a:rPr>
              <a:t>Home</a:t>
            </a:r>
            <a:endParaRPr lang="en-US" sz="1550" dirty="0"/>
          </a:p>
        </p:txBody>
      </p:sp>
      <p:sp>
        <p:nvSpPr>
          <p:cNvPr id="8" name="demo 1 text"/>
          <p:cNvSpPr txBox="1"/>
          <p:nvPr/>
        </p:nvSpPr>
        <p:spPr>
          <a:xfrm>
            <a:off x="1371600" y="2542032"/>
            <a:ext cx="402336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“See the decision in one click”: 22 → 13, plus the hardware headline</a:t>
            </a:r>
            <a:endParaRPr lang="en-US" sz="1250" dirty="0"/>
          </a:p>
        </p:txBody>
      </p:sp>
      <p:sp>
        <p:nvSpPr>
          <p:cNvPr id="9" name="demo 2 circle"/>
          <p:cNvSpPr/>
          <p:nvPr/>
        </p:nvSpPr>
        <p:spPr>
          <a:xfrm>
            <a:off x="731520" y="3200400"/>
            <a:ext cx="457200" cy="457200"/>
          </a:xfrm>
          <a:prstGeom prst="ellipse">
            <a:avLst/>
          </a:prstGeom>
          <a:solidFill>
            <a:srgbClr val="6D28D9"/>
          </a:solidFill>
          <a:ln w="12700">
            <a:solidFill>
              <a:srgbClr val="6D28D9"/>
            </a:solidFill>
            <a:prstDash val="solid"/>
          </a:ln>
        </p:spPr>
      </p:sp>
      <p:sp>
        <p:nvSpPr>
          <p:cNvPr id="10" name="demo 2 number"/>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1" name="demo 2 head"/>
          <p:cNvSpPr txBox="1"/>
          <p:nvPr/>
        </p:nvSpPr>
        <p:spPr>
          <a:xfrm>
            <a:off x="1371600" y="3182112"/>
            <a:ext cx="4023360" cy="310896"/>
          </a:xfrm>
          <a:prstGeom prst="rect">
            <a:avLst/>
          </a:prstGeom>
          <a:noFill/>
          <a:ln/>
        </p:spPr>
        <p:txBody>
          <a:bodyPr wrap="square" lIns="0" tIns="0" rIns="0" bIns="0" rtlCol="0" anchor="ctr"/>
          <a:lstStyle/>
          <a:p>
            <a:pPr indent="0" marL="0">
              <a:buNone/>
            </a:pPr>
            <a:r>
              <a:rPr lang="en-US" sz="1550" b="1" dirty="0">
                <a:solidFill>
                  <a:srgbClr val="2B237C"/>
                </a:solidFill>
                <a:latin typeface="Segoe UI" pitchFamily="34" charset="0"/>
                <a:ea typeface="Segoe UI" pitchFamily="34" charset="-122"/>
                <a:cs typeface="Segoe UI" pitchFamily="34" charset="-120"/>
              </a:rPr>
              <a:t>Classical vs Quantum</a:t>
            </a:r>
            <a:endParaRPr lang="en-US" sz="1550" dirty="0"/>
          </a:p>
        </p:txBody>
      </p:sp>
      <p:sp>
        <p:nvSpPr>
          <p:cNvPr id="12" name="demo 2 text"/>
          <p:cNvSpPr txBox="1"/>
          <p:nvPr/>
        </p:nvSpPr>
        <p:spPr>
          <a:xfrm>
            <a:off x="1371600" y="3502152"/>
            <a:ext cx="402336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Nearest, exact, QAOA simulator and real ibm_fez side by side: answers, hit rates, gates, timings</a:t>
            </a:r>
            <a:endParaRPr lang="en-US" sz="1250" dirty="0"/>
          </a:p>
        </p:txBody>
      </p:sp>
      <p:sp>
        <p:nvSpPr>
          <p:cNvPr id="13" name="demo 3 circle"/>
          <p:cNvSpPr/>
          <p:nvPr/>
        </p:nvSpPr>
        <p:spPr>
          <a:xfrm>
            <a:off x="731520" y="4160520"/>
            <a:ext cx="457200" cy="457200"/>
          </a:xfrm>
          <a:prstGeom prst="ellipse">
            <a:avLst/>
          </a:prstGeom>
          <a:solidFill>
            <a:srgbClr val="1E9AA8"/>
          </a:solidFill>
          <a:ln w="12700">
            <a:solidFill>
              <a:srgbClr val="1E9AA8"/>
            </a:solidFill>
            <a:prstDash val="solid"/>
          </a:ln>
        </p:spPr>
      </p:sp>
      <p:sp>
        <p:nvSpPr>
          <p:cNvPr id="14" name="demo 3 number"/>
          <p:cNvSpPr txBox="1"/>
          <p:nvPr/>
        </p:nvSpPr>
        <p:spPr>
          <a:xfrm>
            <a:off x="731520" y="4160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15" name="demo 3 head"/>
          <p:cNvSpPr txBox="1"/>
          <p:nvPr/>
        </p:nvSpPr>
        <p:spPr>
          <a:xfrm>
            <a:off x="1371600" y="4142232"/>
            <a:ext cx="4023360" cy="310896"/>
          </a:xfrm>
          <a:prstGeom prst="rect">
            <a:avLst/>
          </a:prstGeom>
          <a:noFill/>
          <a:ln/>
        </p:spPr>
        <p:txBody>
          <a:bodyPr wrap="square" lIns="0" tIns="0" rIns="0" bIns="0" rtlCol="0" anchor="ctr"/>
          <a:lstStyle/>
          <a:p>
            <a:pPr indent="0" marL="0">
              <a:buNone/>
            </a:pPr>
            <a:r>
              <a:rPr lang="en-US" sz="1550" b="1" dirty="0">
                <a:solidFill>
                  <a:srgbClr val="2B237C"/>
                </a:solidFill>
                <a:latin typeface="Segoe UI" pitchFamily="34" charset="0"/>
                <a:ea typeface="Segoe UI" pitchFamily="34" charset="-122"/>
                <a:cs typeface="Segoe UI" pitchFamily="34" charset="-120"/>
              </a:rPr>
              <a:t>Real hardware chart</a:t>
            </a:r>
            <a:endParaRPr lang="en-US" sz="1550" dirty="0"/>
          </a:p>
        </p:txBody>
      </p:sp>
      <p:sp>
        <p:nvSpPr>
          <p:cNvPr id="16" name="demo 3 text"/>
          <p:cNvSpPr txBox="1"/>
          <p:nvPr/>
        </p:nvSpPr>
        <p:spPr>
          <a:xfrm>
            <a:off x="1371600" y="4462272"/>
            <a:ext cx="402336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Strongest problem at each size, 4 to 10 qubits, on the real chip</a:t>
            </a:r>
            <a:endParaRPr lang="en-US" sz="1250" dirty="0"/>
          </a:p>
        </p:txBody>
      </p:sp>
      <p:sp>
        <p:nvSpPr>
          <p:cNvPr id="17" name="demo 4 circle"/>
          <p:cNvSpPr/>
          <p:nvPr/>
        </p:nvSpPr>
        <p:spPr>
          <a:xfrm>
            <a:off x="731520" y="5120640"/>
            <a:ext cx="457200" cy="457200"/>
          </a:xfrm>
          <a:prstGeom prst="ellipse">
            <a:avLst/>
          </a:prstGeom>
          <a:solidFill>
            <a:srgbClr val="6D28D9"/>
          </a:solidFill>
          <a:ln w="12700">
            <a:solidFill>
              <a:srgbClr val="6D28D9"/>
            </a:solidFill>
            <a:prstDash val="solid"/>
          </a:ln>
        </p:spPr>
      </p:sp>
      <p:sp>
        <p:nvSpPr>
          <p:cNvPr id="18" name="demo 4 number"/>
          <p:cNvSpPr txBox="1"/>
          <p:nvPr/>
        </p:nvSpPr>
        <p:spPr>
          <a:xfrm>
            <a:off x="731520" y="5120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19" name="demo 4 head"/>
          <p:cNvSpPr txBox="1"/>
          <p:nvPr/>
        </p:nvSpPr>
        <p:spPr>
          <a:xfrm>
            <a:off x="1371600" y="5102352"/>
            <a:ext cx="4023360" cy="310896"/>
          </a:xfrm>
          <a:prstGeom prst="rect">
            <a:avLst/>
          </a:prstGeom>
          <a:noFill/>
          <a:ln/>
        </p:spPr>
        <p:txBody>
          <a:bodyPr wrap="square" lIns="0" tIns="0" rIns="0" bIns="0" rtlCol="0" anchor="ctr"/>
          <a:lstStyle/>
          <a:p>
            <a:pPr indent="0" marL="0">
              <a:buNone/>
            </a:pPr>
            <a:r>
              <a:rPr lang="en-US" sz="1550" b="1" dirty="0">
                <a:solidFill>
                  <a:srgbClr val="2B237C"/>
                </a:solidFill>
                <a:latin typeface="Segoe UI" pitchFamily="34" charset="0"/>
                <a:ea typeface="Segoe UI" pitchFamily="34" charset="-122"/>
                <a:cs typeface="Segoe UI" pitchFamily="34" charset="-120"/>
              </a:rPr>
              <a:t>Create your own emergency</a:t>
            </a:r>
            <a:endParaRPr lang="en-US" sz="1550" dirty="0"/>
          </a:p>
        </p:txBody>
      </p:sp>
      <p:sp>
        <p:nvSpPr>
          <p:cNvPr id="20" name="demo 4 text"/>
          <p:cNvSpPr txBox="1"/>
          <p:nvPr/>
        </p:nvSpPr>
        <p:spPr>
          <a:xfrm>
            <a:off x="1371600" y="5422392"/>
            <a:ext cx="4023360" cy="548640"/>
          </a:xfrm>
          <a:prstGeom prst="rect">
            <a:avLst/>
          </a:prstGeom>
          <a:noFill/>
          <a:ln/>
        </p:spPr>
        <p:txBody>
          <a:bodyPr wrap="square" lIns="0" tIns="0" rIns="0" bIns="0" rtlCol="0" anchor="t"/>
          <a:lstStyle/>
          <a:p>
            <a:pPr indent="0" marL="0">
              <a:buNone/>
            </a:pPr>
            <a:r>
              <a:rPr lang="en-US" sz="1250" dirty="0">
                <a:solidFill>
                  <a:srgbClr val="4A4A5A"/>
                </a:solidFill>
                <a:latin typeface="Segoe UI" pitchFamily="34" charset="0"/>
                <a:ea typeface="Segoe UI" pitchFamily="34" charset="-122"/>
                <a:cs typeface="Segoe UI" pitchFamily="34" charset="-120"/>
              </a:rPr>
              <a:t>Place calls on a map; every solver runs live</a:t>
            </a:r>
            <a:endParaRPr lang="en-US" sz="1250" dirty="0"/>
          </a:p>
        </p:txBody>
      </p:sp>
      <p:sp>
        <p:nvSpPr>
          <p:cNvPr id="21" name="demo screenshot frame"/>
          <p:cNvSpPr/>
          <p:nvPr/>
        </p:nvSpPr>
        <p:spPr>
          <a:xfrm>
            <a:off x="5696712" y="2176272"/>
            <a:ext cx="5340096" cy="2818122"/>
          </a:xfrm>
          <a:prstGeom prst="roundRect">
            <a:avLst>
              <a:gd name="adj" fmla="val 3245"/>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22" name="demo screenshot" descr="Screenshot · Home page of our app, with the hardware headline">    </p:cNvPr>
          <p:cNvPicPr>
            <a:picLocks noChangeAspect="1"/>
          </p:cNvPicPr>
          <p:nvPr/>
        </p:nvPicPr>
        <p:blipFill>
          <a:blip r:embed="rId1"/>
          <a:stretch>
            <a:fillRect/>
          </a:stretch>
        </p:blipFill>
        <p:spPr>
          <a:xfrm>
            <a:off x="5760720" y="2240280"/>
            <a:ext cx="5212080" cy="2690106"/>
          </a:xfrm>
          <a:prstGeom prst="rect">
            <a:avLst/>
          </a:prstGeom>
        </p:spPr>
      </p:pic>
      <p:sp>
        <p:nvSpPr>
          <p:cNvPr id="23" name="demo screenshot tag"/>
          <p:cNvSpPr txBox="1"/>
          <p:nvPr/>
        </p:nvSpPr>
        <p:spPr>
          <a:xfrm>
            <a:off x="5760720" y="5040114"/>
            <a:ext cx="5212080"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Screenshot · Home page of our app, with the hardware headline</a:t>
            </a:r>
            <a:endParaRPr lang="en-US" sz="1100" dirty="0"/>
          </a:p>
        </p:txBody>
      </p:sp>
      <p:sp>
        <p:nvSpPr>
          <p:cNvPr id="24" name="stack line"/>
          <p:cNvSpPr txBox="1"/>
          <p:nvPr/>
        </p:nvSpPr>
        <p:spPr>
          <a:xfrm>
            <a:off x="5760720" y="5387586"/>
            <a:ext cx="5212080" cy="274320"/>
          </a:xfrm>
          <a:prstGeom prst="rect">
            <a:avLst/>
          </a:prstGeom>
          <a:noFill/>
          <a:ln/>
        </p:spPr>
        <p:txBody>
          <a:bodyPr wrap="square" lIns="0" tIns="0" rIns="0" bIns="0" rtlCol="0" anchor="ctr"/>
          <a:lstStyle/>
          <a:p>
            <a:pPr indent="0" marL="0">
              <a:buNone/>
            </a:pPr>
            <a:r>
              <a:rPr lang="en-US" sz="1200" b="1" dirty="0">
                <a:solidFill>
                  <a:srgbClr val="2B237C"/>
                </a:solidFill>
                <a:latin typeface="Segoe UI" pitchFamily="34" charset="0"/>
                <a:ea typeface="Segoe UI" pitchFamily="34" charset="-122"/>
                <a:cs typeface="Segoe UI" pitchFamily="34" charset="-120"/>
              </a:rPr>
              <a:t>Streamlit · Qiskit 2.5 · IBM Runtime · 149 tests · public GitHub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pill"/>
          <p:cNvSpPr/>
          <p:nvPr/>
        </p:nvSpPr>
        <p:spPr>
          <a:xfrm>
            <a:off x="4736592" y="681228"/>
            <a:ext cx="3017520"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736592" y="681228"/>
            <a:ext cx="3017520"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Results / Validation</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On a real IBM quantum computer, QAOA finds the best dispatch up to </a:t>
            </a:r>
            <a:pPr algn="ctr" indent="0" marL="0">
              <a:buNone/>
            </a:pPr>
            <a:r>
              <a:rPr lang="en-US" sz="2500" b="1" dirty="0">
                <a:solidFill>
                  <a:srgbClr val="FF66C4"/>
                </a:solidFill>
                <a:latin typeface="Segoe UI" pitchFamily="34" charset="0"/>
                <a:ea typeface="Segoe UI" pitchFamily="34" charset="-122"/>
                <a:cs typeface="Segoe UI" pitchFamily="34" charset="-120"/>
              </a:rPr>
              <a:t>2.8× more often than guessing</a:t>
            </a:r>
            <a:endParaRPr lang="en-US" sz="2500" dirty="0"/>
          </a:p>
        </p:txBody>
      </p:sp>
      <p:sp>
        <p:nvSpPr>
          <p:cNvPr id="5" name="scaling chart frame"/>
          <p:cNvSpPr/>
          <p:nvPr/>
        </p:nvSpPr>
        <p:spPr>
          <a:xfrm>
            <a:off x="731520" y="2176272"/>
            <a:ext cx="7031736" cy="2633398"/>
          </a:xfrm>
          <a:prstGeom prst="roundRect">
            <a:avLst>
              <a:gd name="adj" fmla="val 3472"/>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6" name="scaling chart" descr="Screenshot · our app · ibm_fez, depth 3, strongest problem at each size">    </p:cNvPr>
          <p:cNvPicPr>
            <a:picLocks noChangeAspect="1"/>
          </p:cNvPicPr>
          <p:nvPr/>
        </p:nvPicPr>
        <p:blipFill>
          <a:blip r:embed="rId1"/>
          <a:stretch>
            <a:fillRect/>
          </a:stretch>
        </p:blipFill>
        <p:spPr>
          <a:xfrm>
            <a:off x="795528" y="2240280"/>
            <a:ext cx="6903720" cy="2505382"/>
          </a:xfrm>
          <a:prstGeom prst="rect">
            <a:avLst/>
          </a:prstGeom>
        </p:spPr>
      </p:pic>
      <p:sp>
        <p:nvSpPr>
          <p:cNvPr id="7" name="scaling chart tag"/>
          <p:cNvSpPr txBox="1"/>
          <p:nvPr/>
        </p:nvSpPr>
        <p:spPr>
          <a:xfrm>
            <a:off x="795528" y="4855390"/>
            <a:ext cx="6903720"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Screenshot · our app · ibm_fez, depth 3, strongest problem at each size</a:t>
            </a:r>
            <a:endParaRPr lang="en-US" sz="1100" dirty="0"/>
          </a:p>
        </p:txBody>
      </p:sp>
      <p:sp>
        <p:nvSpPr>
          <p:cNvPr id="8" name="scaling note"/>
          <p:cNvSpPr txBox="1"/>
          <p:nvPr/>
        </p:nvSpPr>
        <p:spPr>
          <a:xfrm>
            <a:off x="731520" y="5202862"/>
            <a:ext cx="6995160" cy="50292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Above the dotted line = better than guessing. Noise keeps 24–74% of the noiseless gain: the limit is the hardware, not the algorithm.</a:t>
            </a:r>
            <a:endParaRPr lang="en-US" sz="1300" dirty="0"/>
          </a:p>
        </p:txBody>
      </p:sp>
      <p:sp>
        <p:nvSpPr>
          <p:cNvPr id="9" name="four qubits value"/>
          <p:cNvSpPr txBox="1"/>
          <p:nvPr/>
        </p:nvSpPr>
        <p:spPr>
          <a:xfrm>
            <a:off x="8229600" y="2103120"/>
            <a:ext cx="2743200" cy="670560"/>
          </a:xfrm>
          <a:prstGeom prst="rect">
            <a:avLst/>
          </a:prstGeom>
          <a:noFill/>
          <a:ln/>
        </p:spPr>
        <p:txBody>
          <a:bodyPr wrap="square" lIns="0" tIns="0" rIns="0" bIns="0" rtlCol="0" anchor="b"/>
          <a:lstStyle/>
          <a:p>
            <a:pPr indent="0" marL="0">
              <a:buNone/>
            </a:pPr>
            <a:r>
              <a:rPr lang="en-US" sz="4400" b="1" dirty="0">
                <a:solidFill>
                  <a:srgbClr val="6D28D9"/>
                </a:solidFill>
                <a:latin typeface="Segoe UI" pitchFamily="34" charset="0"/>
                <a:ea typeface="Segoe UI" pitchFamily="34" charset="-122"/>
                <a:cs typeface="Segoe UI" pitchFamily="34" charset="-120"/>
              </a:rPr>
              <a:t>2.8×</a:t>
            </a:r>
            <a:endParaRPr lang="en-US" sz="4400" dirty="0"/>
          </a:p>
        </p:txBody>
      </p:sp>
      <p:sp>
        <p:nvSpPr>
          <p:cNvPr id="10" name="four qubits label"/>
          <p:cNvSpPr txBox="1"/>
          <p:nvPr/>
        </p:nvSpPr>
        <p:spPr>
          <a:xfrm>
            <a:off x="8229600" y="2819400"/>
            <a:ext cx="274320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4 qubits</a:t>
            </a:r>
            <a:endParaRPr lang="en-US" sz="1500" dirty="0"/>
          </a:p>
        </p:txBody>
      </p:sp>
      <p:sp>
        <p:nvSpPr>
          <p:cNvPr id="11" name="four qubits note"/>
          <p:cNvSpPr txBox="1"/>
          <p:nvPr/>
        </p:nvSpPr>
        <p:spPr>
          <a:xfrm>
            <a:off x="8229600" y="3121152"/>
            <a:ext cx="274320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Top answer = best plan, 2 of 2 runs</a:t>
            </a:r>
            <a:endParaRPr lang="en-US" sz="1300" dirty="0"/>
          </a:p>
        </p:txBody>
      </p:sp>
      <p:sp>
        <p:nvSpPr>
          <p:cNvPr id="12" name="ten qubits value"/>
          <p:cNvSpPr txBox="1"/>
          <p:nvPr/>
        </p:nvSpPr>
        <p:spPr>
          <a:xfrm>
            <a:off x="8229600" y="3520440"/>
            <a:ext cx="2743200" cy="670560"/>
          </a:xfrm>
          <a:prstGeom prst="rect">
            <a:avLst/>
          </a:prstGeom>
          <a:noFill/>
          <a:ln/>
        </p:spPr>
        <p:txBody>
          <a:bodyPr wrap="square" lIns="0" tIns="0" rIns="0" bIns="0" rtlCol="0" anchor="b"/>
          <a:lstStyle/>
          <a:p>
            <a:pPr indent="0" marL="0">
              <a:buNone/>
            </a:pPr>
            <a:r>
              <a:rPr lang="en-US" sz="4400" b="1" dirty="0">
                <a:solidFill>
                  <a:srgbClr val="1E9AA8"/>
                </a:solidFill>
                <a:latin typeface="Segoe UI" pitchFamily="34" charset="0"/>
                <a:ea typeface="Segoe UI" pitchFamily="34" charset="-122"/>
                <a:cs typeface="Segoe UI" pitchFamily="34" charset="-120"/>
              </a:rPr>
              <a:t>2.7×</a:t>
            </a:r>
            <a:endParaRPr lang="en-US" sz="4400" dirty="0"/>
          </a:p>
        </p:txBody>
      </p:sp>
      <p:sp>
        <p:nvSpPr>
          <p:cNvPr id="13" name="ten qubits label"/>
          <p:cNvSpPr txBox="1"/>
          <p:nvPr/>
        </p:nvSpPr>
        <p:spPr>
          <a:xfrm>
            <a:off x="8229600" y="4236720"/>
            <a:ext cx="274320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10 qubits</a:t>
            </a:r>
            <a:endParaRPr lang="en-US" sz="1500" dirty="0"/>
          </a:p>
        </p:txBody>
      </p:sp>
      <p:sp>
        <p:nvSpPr>
          <p:cNvPr id="14" name="ten qubits note"/>
          <p:cNvSpPr txBox="1"/>
          <p:nvPr/>
        </p:nvSpPr>
        <p:spPr>
          <a:xfrm>
            <a:off x="8229600" y="4538472"/>
            <a:ext cx="274320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Still ahead with 284 two-qubit gates</a:t>
            </a:r>
            <a:endParaRPr lang="en-US" sz="1300" dirty="0"/>
          </a:p>
        </p:txBody>
      </p:sp>
      <p:sp>
        <p:nvSpPr>
          <p:cNvPr id="15" name="chips value"/>
          <p:cNvSpPr txBox="1"/>
          <p:nvPr/>
        </p:nvSpPr>
        <p:spPr>
          <a:xfrm>
            <a:off x="8229600" y="4937760"/>
            <a:ext cx="2743200" cy="548640"/>
          </a:xfrm>
          <a:prstGeom prst="rect">
            <a:avLst/>
          </a:prstGeom>
          <a:noFill/>
          <a:ln/>
        </p:spPr>
        <p:txBody>
          <a:bodyPr wrap="square" lIns="0" tIns="0" rIns="0" bIns="0" rtlCol="0" anchor="b"/>
          <a:lstStyle/>
          <a:p>
            <a:pPr indent="0" marL="0">
              <a:buNone/>
            </a:pPr>
            <a:r>
              <a:rPr lang="en-US" sz="3600" b="1" dirty="0">
                <a:solidFill>
                  <a:srgbClr val="2B237C"/>
                </a:solidFill>
                <a:latin typeface="Segoe UI" pitchFamily="34" charset="0"/>
                <a:ea typeface="Segoe UI" pitchFamily="34" charset="-122"/>
                <a:cs typeface="Segoe UI" pitchFamily="34" charset="-120"/>
              </a:rPr>
              <a:t>2 chips</a:t>
            </a:r>
            <a:endParaRPr lang="en-US" sz="3600" dirty="0"/>
          </a:p>
        </p:txBody>
      </p:sp>
      <p:sp>
        <p:nvSpPr>
          <p:cNvPr id="16" name="chips label"/>
          <p:cNvSpPr txBox="1"/>
          <p:nvPr/>
        </p:nvSpPr>
        <p:spPr>
          <a:xfrm>
            <a:off x="8229600" y="5532120"/>
            <a:ext cx="274320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9 jobs on IBM Heron</a:t>
            </a:r>
            <a:endParaRPr lang="en-US" sz="1500" dirty="0"/>
          </a:p>
        </p:txBody>
      </p:sp>
      <p:sp>
        <p:nvSpPr>
          <p:cNvPr id="17" name="chips note"/>
          <p:cNvSpPr txBox="1"/>
          <p:nvPr/>
        </p:nvSpPr>
        <p:spPr>
          <a:xfrm>
            <a:off x="8229600" y="5833872"/>
            <a:ext cx="274320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ibm_fez, ibm_marrakesh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pill"/>
          <p:cNvSpPr/>
          <p:nvPr/>
        </p:nvSpPr>
        <p:spPr>
          <a:xfrm>
            <a:off x="4736592" y="681228"/>
            <a:ext cx="3017520"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736592" y="681228"/>
            <a:ext cx="3017520"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Results / Validation</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Planning simultaneous calls together cut response time by </a:t>
            </a:r>
            <a:pPr algn="ctr" indent="0" marL="0">
              <a:buNone/>
            </a:pPr>
            <a:r>
              <a:rPr lang="en-US" sz="2500" b="1" dirty="0">
                <a:solidFill>
                  <a:srgbClr val="FF66C4"/>
                </a:solidFill>
                <a:latin typeface="Segoe UI" pitchFamily="34" charset="0"/>
                <a:ea typeface="Segoe UI" pitchFamily="34" charset="-122"/>
                <a:cs typeface="Segoe UI" pitchFamily="34" charset="-120"/>
              </a:rPr>
              <a:t>2.15 minutes</a:t>
            </a:r>
            <a:endParaRPr lang="en-US" sz="2500" dirty="0"/>
          </a:p>
        </p:txBody>
      </p:sp>
      <p:sp>
        <p:nvSpPr>
          <p:cNvPr id="5" name="response value"/>
          <p:cNvSpPr txBox="1"/>
          <p:nvPr/>
        </p:nvSpPr>
        <p:spPr>
          <a:xfrm>
            <a:off x="731520" y="2057400"/>
            <a:ext cx="3230880" cy="579120"/>
          </a:xfrm>
          <a:prstGeom prst="rect">
            <a:avLst/>
          </a:prstGeom>
          <a:noFill/>
          <a:ln/>
        </p:spPr>
        <p:txBody>
          <a:bodyPr wrap="square" lIns="0" tIns="0" rIns="0" bIns="0" rtlCol="0" anchor="b"/>
          <a:lstStyle/>
          <a:p>
            <a:pPr indent="0" marL="0">
              <a:buNone/>
            </a:pPr>
            <a:r>
              <a:rPr lang="en-US" sz="3800" b="1" dirty="0">
                <a:solidFill>
                  <a:srgbClr val="0E8A5F"/>
                </a:solidFill>
                <a:latin typeface="Segoe UI" pitchFamily="34" charset="0"/>
                <a:ea typeface="Segoe UI" pitchFamily="34" charset="-122"/>
                <a:cs typeface="Segoe UI" pitchFamily="34" charset="-120"/>
              </a:rPr>
              <a:t>−2.15 min</a:t>
            </a:r>
            <a:endParaRPr lang="en-US" sz="3800" dirty="0"/>
          </a:p>
        </p:txBody>
      </p:sp>
      <p:sp>
        <p:nvSpPr>
          <p:cNvPr id="6" name="response label"/>
          <p:cNvSpPr txBox="1"/>
          <p:nvPr/>
        </p:nvSpPr>
        <p:spPr>
          <a:xfrm>
            <a:off x="731520" y="2682240"/>
            <a:ext cx="323088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Mean response, 5 calls/hour</a:t>
            </a:r>
            <a:endParaRPr lang="en-US" sz="1500" dirty="0"/>
          </a:p>
        </p:txBody>
      </p:sp>
      <p:sp>
        <p:nvSpPr>
          <p:cNvPr id="7" name="response note"/>
          <p:cNvSpPr txBox="1"/>
          <p:nvPr/>
        </p:nvSpPr>
        <p:spPr>
          <a:xfrm>
            <a:off x="731520" y="2983992"/>
            <a:ext cx="323088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95% CI −2.67 to −1.63 vs nearest-available</a:t>
            </a:r>
            <a:endParaRPr lang="en-US" sz="1300" dirty="0"/>
          </a:p>
        </p:txBody>
      </p:sp>
      <p:sp>
        <p:nvSpPr>
          <p:cNvPr id="8" name="late value"/>
          <p:cNvSpPr txBox="1"/>
          <p:nvPr/>
        </p:nvSpPr>
        <p:spPr>
          <a:xfrm>
            <a:off x="4236720" y="2057400"/>
            <a:ext cx="3230880" cy="579120"/>
          </a:xfrm>
          <a:prstGeom prst="rect">
            <a:avLst/>
          </a:prstGeom>
          <a:noFill/>
          <a:ln/>
        </p:spPr>
        <p:txBody>
          <a:bodyPr wrap="square" lIns="0" tIns="0" rIns="0" bIns="0" rtlCol="0" anchor="b"/>
          <a:lstStyle/>
          <a:p>
            <a:pPr indent="0" marL="0">
              <a:buNone/>
            </a:pPr>
            <a:r>
              <a:rPr lang="en-US" sz="3800" b="1" dirty="0">
                <a:solidFill>
                  <a:srgbClr val="0E8A5F"/>
                </a:solidFill>
                <a:latin typeface="Segoe UI" pitchFamily="34" charset="0"/>
                <a:ea typeface="Segoe UI" pitchFamily="34" charset="-122"/>
                <a:cs typeface="Segoe UI" pitchFamily="34" charset="-120"/>
              </a:rPr>
              <a:t>−1.8 pts</a:t>
            </a:r>
            <a:endParaRPr lang="en-US" sz="3800" dirty="0"/>
          </a:p>
        </p:txBody>
      </p:sp>
      <p:sp>
        <p:nvSpPr>
          <p:cNvPr id="9" name="late label"/>
          <p:cNvSpPr txBox="1"/>
          <p:nvPr/>
        </p:nvSpPr>
        <p:spPr>
          <a:xfrm>
            <a:off x="4236720" y="2682240"/>
            <a:ext cx="323088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Late arrivals</a:t>
            </a:r>
            <a:endParaRPr lang="en-US" sz="1500" dirty="0"/>
          </a:p>
        </p:txBody>
      </p:sp>
      <p:sp>
        <p:nvSpPr>
          <p:cNvPr id="10" name="late note"/>
          <p:cNvSpPr txBox="1"/>
          <p:nvPr/>
        </p:nvSpPr>
        <p:spPr>
          <a:xfrm>
            <a:off x="4236720" y="2983992"/>
            <a:ext cx="323088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Same load, same calls for every policy</a:t>
            </a:r>
            <a:endParaRPr lang="en-US" sz="1300" dirty="0"/>
          </a:p>
        </p:txBody>
      </p:sp>
      <p:sp>
        <p:nvSpPr>
          <p:cNvPr id="11" name="coverage value"/>
          <p:cNvSpPr txBox="1"/>
          <p:nvPr/>
        </p:nvSpPr>
        <p:spPr>
          <a:xfrm>
            <a:off x="7741920" y="2057400"/>
            <a:ext cx="3230880" cy="579120"/>
          </a:xfrm>
          <a:prstGeom prst="rect">
            <a:avLst/>
          </a:prstGeom>
          <a:noFill/>
          <a:ln/>
        </p:spPr>
        <p:txBody>
          <a:bodyPr wrap="square" lIns="0" tIns="0" rIns="0" bIns="0" rtlCol="0" anchor="b"/>
          <a:lstStyle/>
          <a:p>
            <a:pPr indent="0" marL="0">
              <a:buNone/>
            </a:pPr>
            <a:r>
              <a:rPr lang="en-US" sz="3800" b="1" dirty="0">
                <a:solidFill>
                  <a:srgbClr val="6D28D9"/>
                </a:solidFill>
                <a:latin typeface="Segoe UI" pitchFamily="34" charset="0"/>
                <a:ea typeface="Segoe UI" pitchFamily="34" charset="-122"/>
                <a:cs typeface="Segoe UI" pitchFamily="34" charset="-120"/>
              </a:rPr>
              <a:t>4 of 4</a:t>
            </a:r>
            <a:endParaRPr lang="en-US" sz="3800" dirty="0"/>
          </a:p>
        </p:txBody>
      </p:sp>
      <p:sp>
        <p:nvSpPr>
          <p:cNvPr id="12" name="coverage label"/>
          <p:cNvSpPr txBox="1"/>
          <p:nvPr/>
        </p:nvSpPr>
        <p:spPr>
          <a:xfrm>
            <a:off x="7741920" y="2682240"/>
            <a:ext cx="323088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Loads with less uncovered demand</a:t>
            </a:r>
            <a:endParaRPr lang="en-US" sz="1500" dirty="0"/>
          </a:p>
        </p:txBody>
      </p:sp>
      <p:sp>
        <p:nvSpPr>
          <p:cNvPr id="13" name="coverage note"/>
          <p:cNvSpPr txBox="1"/>
          <p:nvPr/>
        </p:nvSpPr>
        <p:spPr>
          <a:xfrm>
            <a:off x="7741920" y="2983992"/>
            <a:ext cx="3230880" cy="457200"/>
          </a:xfrm>
          <a:prstGeom prst="rect">
            <a:avLst/>
          </a:prstGeom>
          <a:noFill/>
          <a:ln/>
        </p:spPr>
        <p:txBody>
          <a:bodyPr wrap="square" lIns="0" tIns="0" rIns="0" bIns="0" rtlCol="0" anchor="t"/>
          <a:lstStyle/>
          <a:p>
            <a:pPr indent="0" marL="0">
              <a:buNone/>
            </a:pPr>
            <a:r>
              <a:rPr lang="en-US" sz="1300" dirty="0">
                <a:solidFill>
                  <a:srgbClr val="4A4A5A"/>
                </a:solidFill>
                <a:latin typeface="Segoe UI" pitchFamily="34" charset="0"/>
                <a:ea typeface="Segoe UI" pitchFamily="34" charset="-122"/>
                <a:cs typeface="Segoe UI" pitchFamily="34" charset="-120"/>
              </a:rPr>
              <a:t>2 to 5 calls/hour, 7 ambulances</a:t>
            </a:r>
            <a:endParaRPr lang="en-US" sz="1300" dirty="0"/>
          </a:p>
        </p:txBody>
      </p:sp>
      <p:sp>
        <p:nvSpPr>
          <p:cNvPr id="14" name="simulation chart frame"/>
          <p:cNvSpPr/>
          <p:nvPr/>
        </p:nvSpPr>
        <p:spPr>
          <a:xfrm>
            <a:off x="1901952" y="3776472"/>
            <a:ext cx="7717536" cy="2253082"/>
          </a:xfrm>
          <a:prstGeom prst="roundRect">
            <a:avLst>
              <a:gd name="adj" fmla="val 4058"/>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15" name="simulation chart" descr="Synthetic city · 7 ambulances · 7 days × 30 runs · negative is better">    </p:cNvPr>
          <p:cNvPicPr>
            <a:picLocks noChangeAspect="1"/>
          </p:cNvPicPr>
          <p:nvPr/>
        </p:nvPicPr>
        <p:blipFill>
          <a:blip r:embed="rId1"/>
          <a:stretch>
            <a:fillRect/>
          </a:stretch>
        </p:blipFill>
        <p:spPr>
          <a:xfrm>
            <a:off x="1965960" y="3840480"/>
            <a:ext cx="7589520" cy="2125066"/>
          </a:xfrm>
          <a:prstGeom prst="rect">
            <a:avLst/>
          </a:prstGeom>
        </p:spPr>
      </p:pic>
      <p:sp>
        <p:nvSpPr>
          <p:cNvPr id="16" name="simulation chart tag"/>
          <p:cNvSpPr txBox="1"/>
          <p:nvPr/>
        </p:nvSpPr>
        <p:spPr>
          <a:xfrm>
            <a:off x="1965960" y="6075274"/>
            <a:ext cx="7589520"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Synthetic city · 7 ambulances · 7 days × 30 runs · negative is better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pill"/>
          <p:cNvSpPr/>
          <p:nvPr/>
        </p:nvSpPr>
        <p:spPr>
          <a:xfrm>
            <a:off x="4736592" y="681228"/>
            <a:ext cx="3017520"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736592" y="681228"/>
            <a:ext cx="3017520"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Quantum vs Classical</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Today classical is faster; we measured </a:t>
            </a:r>
            <a:pPr algn="ctr" indent="0" marL="0">
              <a:buNone/>
            </a:pPr>
            <a:r>
              <a:rPr lang="en-US" sz="2500" b="1" dirty="0">
                <a:solidFill>
                  <a:srgbClr val="FF66C4"/>
                </a:solidFill>
                <a:latin typeface="Segoe UI" pitchFamily="34" charset="0"/>
                <a:ea typeface="Segoe UI" pitchFamily="34" charset="-122"/>
                <a:cs typeface="Segoe UI" pitchFamily="34" charset="-120"/>
              </a:rPr>
              <a:t>exactly where the hardware stands</a:t>
            </a:r>
            <a:endParaRPr lang="en-US" sz="2500" dirty="0"/>
          </a:p>
        </p:txBody>
      </p:sp>
      <p:sp>
        <p:nvSpPr>
          <p:cNvPr id="5" name="bars chart frame"/>
          <p:cNvSpPr/>
          <p:nvPr/>
        </p:nvSpPr>
        <p:spPr>
          <a:xfrm>
            <a:off x="731520" y="2130552"/>
            <a:ext cx="4654296" cy="3428719"/>
          </a:xfrm>
          <a:prstGeom prst="roundRect">
            <a:avLst>
              <a:gd name="adj" fmla="val 2667"/>
            </a:avLst>
          </a:prstGeom>
          <a:solidFill>
            <a:srgbClr val="FFFFFF"/>
          </a:solidFill>
          <a:ln w="9525">
            <a:solidFill>
              <a:srgbClr val="CFCBDD"/>
            </a:solidFill>
            <a:prstDash val="solid"/>
          </a:ln>
          <a:effectLst>
            <a:outerShdw sx="100000" sy="100000" kx="0" ky="0" algn="bl" rotWithShape="0" blurRad="101600" dist="38100" dir="5400000">
              <a:srgbClr val="2B237C">
                <a:alpha val="18000"/>
              </a:srgbClr>
            </a:outerShdw>
          </a:effectLst>
        </p:spPr>
      </p:sp>
      <p:pic>
        <p:nvPicPr>
          <p:cNvPr id="6" name="bars chart" descr="Screenshot · 4 qubits, depth 2: hit rate per run">    </p:cNvPr>
          <p:cNvPicPr>
            <a:picLocks noChangeAspect="1"/>
          </p:cNvPicPr>
          <p:nvPr/>
        </p:nvPicPr>
        <p:blipFill>
          <a:blip r:embed="rId1"/>
          <a:stretch>
            <a:fillRect/>
          </a:stretch>
        </p:blipFill>
        <p:spPr>
          <a:xfrm>
            <a:off x="795528" y="2194560"/>
            <a:ext cx="4526280" cy="3300703"/>
          </a:xfrm>
          <a:prstGeom prst="rect">
            <a:avLst/>
          </a:prstGeom>
        </p:spPr>
      </p:pic>
      <p:sp>
        <p:nvSpPr>
          <p:cNvPr id="7" name="bars chart tag"/>
          <p:cNvSpPr txBox="1"/>
          <p:nvPr/>
        </p:nvSpPr>
        <p:spPr>
          <a:xfrm>
            <a:off x="795528" y="5604991"/>
            <a:ext cx="4526280" cy="237744"/>
          </a:xfrm>
          <a:prstGeom prst="rect">
            <a:avLst/>
          </a:prstGeom>
          <a:noFill/>
          <a:ln/>
        </p:spPr>
        <p:txBody>
          <a:bodyPr wrap="square" lIns="0" tIns="0" rIns="0" bIns="0" rtlCol="0" anchor="ctr"/>
          <a:lstStyle/>
          <a:p>
            <a:pPr indent="0" marL="0">
              <a:buNone/>
            </a:pPr>
            <a:r>
              <a:rPr lang="en-US" sz="1100" b="1" dirty="0">
                <a:solidFill>
                  <a:srgbClr val="6D28D9"/>
                </a:solidFill>
                <a:latin typeface="Segoe UI" pitchFamily="34" charset="0"/>
                <a:ea typeface="Segoe UI" pitchFamily="34" charset="-122"/>
                <a:cs typeface="Segoe UI" pitchFamily="34" charset="-120"/>
              </a:rPr>
              <a:t>Screenshot · 4 qubits, depth 2: hit rate per run</a:t>
            </a:r>
            <a:endParaRPr lang="en-US" sz="1100" dirty="0"/>
          </a:p>
        </p:txBody>
      </p:sp>
      <p:graphicFrame>
        <p:nvGraphicFramePr>
          <p:cNvPr id="11" name="latency table"/>
          <p:cNvGraphicFramePr>
            <a:graphicFrameLocks noGrp="1"/>
          </p:cNvGraphicFramePr>
          <p:nvPr>
            <p:extLst>
              <p:ext uri="{D42A27DB-BD31-4B8C-83A1-F6EECF244321}">
                <p14:modId xmlns:p14="http://schemas.microsoft.com/office/powerpoint/2010/main" val="1579011935"/>
              </p:ext>
            </p:extLst>
          </p:nvPr>
        </p:nvGraphicFramePr>
        <p:xfrm>
          <a:off x="5623560" y="2194560"/>
          <a:ext cx="5349240" cy="914400"/>
        </p:xfrm>
        <a:graphic>
          <a:graphicData uri="http://schemas.openxmlformats.org/drawingml/2006/table">
            <a:tbl>
              <a:tblPr/>
              <a:tblGrid>
                <a:gridCol w="3977640"/>
                <a:gridCol w="1371600"/>
              </a:tblGrid>
              <a:tr h="329184">
                <a:tc>
                  <a:txBody>
                    <a:bodyPr/>
                    <a:lstStyle/>
                    <a:p>
                      <a:pPr algn="l" indent="0" marL="0">
                        <a:buNone/>
                      </a:pPr>
                      <a:r>
                        <a:rPr lang="en-US" sz="1250" b="1" dirty="0">
                          <a:solidFill>
                            <a:srgbClr val="FFFFFF"/>
                          </a:solidFill>
                        </a:rPr>
                        <a:t>Method</a:t>
                      </a:r>
                      <a:endParaRPr lang="en-US" sz="125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2B237C"/>
                    </a:solidFill>
                  </a:tcPr>
                </a:tc>
                <a:tc>
                  <a:txBody>
                    <a:bodyPr/>
                    <a:lstStyle/>
                    <a:p>
                      <a:pPr algn="r" indent="0" marL="0">
                        <a:buNone/>
                      </a:pPr>
                      <a:r>
                        <a:rPr lang="en-US" sz="1250" b="1" dirty="0">
                          <a:solidFill>
                            <a:srgbClr val="FFFFFF"/>
                          </a:solidFill>
                        </a:rPr>
                        <a:t>Time to answer</a:t>
                      </a:r>
                      <a:endParaRPr lang="en-US" sz="125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2B237C"/>
                    </a:solidFill>
                  </a:tcPr>
                </a:tc>
              </a:tr>
              <a:tr h="329184">
                <a:tc>
                  <a:txBody>
                    <a:bodyPr/>
                    <a:lstStyle/>
                    <a:p>
                      <a:pPr indent="0" marL="0">
                        <a:buNone/>
                      </a:pPr>
                      <a:r>
                        <a:rPr lang="en-US" sz="1300" dirty="0">
                          <a:solidFill>
                            <a:srgbClr val="111111"/>
                          </a:solidFill>
                        </a:rPr>
                        <a:t>Exact classical search (CPU)</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11111"/>
                          </a:solidFill>
                        </a:rPr>
                        <a:t>&lt; 1 ms</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rPr>
                        <a:t>QAOA, noiseless simulator</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11111"/>
                          </a:solidFill>
                        </a:rPr>
                        <a:t>1–4 ms</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rPr>
                        <a:t>IBM chip, empty queue (Marrakesh)</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11111"/>
                          </a:solidFill>
                        </a:rPr>
                        <a:t>11 s</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11111"/>
                          </a:solidFill>
                        </a:rPr>
                        <a:t>IBM chip, busy queue (Fez)</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11111"/>
                          </a:solidFill>
                        </a:rPr>
                        <a:t>12–20 min</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r>
              <a:tr h="329184">
                <a:tc>
                  <a:txBody>
                    <a:bodyPr/>
                    <a:lstStyle/>
                    <a:p>
                      <a:pPr indent="0" marL="0">
                        <a:buNone/>
                      </a:pPr>
                      <a:r>
                        <a:rPr lang="en-US" sz="1300" b="1" dirty="0">
                          <a:solidFill>
                            <a:srgbClr val="111111"/>
                          </a:solidFill>
                        </a:rPr>
                        <a:t>… of which on the quantum chip</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6D28D9"/>
                          </a:solidFill>
                        </a:rPr>
                        <a:t>3–5 s</a:t>
                      </a:r>
                      <a:endParaRPr lang="en-US" sz="1300" dirty="0"/>
                    </a:p>
                  </a:txBody>
                  <a:tcPr marL="64008" marR="64008" marT="64008" marB="64008">
                    <a:lnL w="9525" cap="flat" cmpd="sng" algn="ctr">
                      <a:solidFill>
                        <a:srgbClr val="CFCBDD"/>
                      </a:solidFill>
                      <a:prstDash val="solid"/>
                      <a:round/>
                      <a:headEnd type="none" w="med" len="med"/>
                      <a:tailEnd type="none" w="med" len="med"/>
                    </a:lnL>
                    <a:lnR w="9525" cap="flat" cmpd="sng" algn="ctr">
                      <a:solidFill>
                        <a:srgbClr val="CFCBDD"/>
                      </a:solidFill>
                      <a:prstDash val="solid"/>
                      <a:round/>
                      <a:headEnd type="none" w="med" len="med"/>
                      <a:tailEnd type="none" w="med" len="med"/>
                    </a:lnR>
                    <a:lnT w="9525" cap="flat" cmpd="sng" algn="ctr">
                      <a:solidFill>
                        <a:srgbClr val="CFCBDD"/>
                      </a:solidFill>
                      <a:prstDash val="solid"/>
                      <a:round/>
                      <a:headEnd type="none" w="med" len="med"/>
                      <a:tailEnd type="none" w="med" len="med"/>
                    </a:lnT>
                    <a:lnB w="9525" cap="flat" cmpd="sng" algn="ctr">
                      <a:solidFill>
                        <a:srgbClr val="CFCBDD"/>
                      </a:solidFill>
                      <a:prstDash val="solid"/>
                      <a:round/>
                      <a:headEnd type="none" w="med" len="med"/>
                      <a:tailEnd type="none" w="med" len="med"/>
                    </a:lnB>
                    <a:solidFill>
                      <a:srgbClr val="FFFFFF"/>
                    </a:solidFill>
                  </a:tcPr>
                </a:tc>
              </a:tr>
            </a:tbl>
          </a:graphicData>
        </a:graphic>
      </p:graphicFrame>
      <p:sp>
        <p:nvSpPr>
          <p:cNvPr id="9" name="limits card"/>
          <p:cNvSpPr/>
          <p:nvPr/>
        </p:nvSpPr>
        <p:spPr>
          <a:xfrm>
            <a:off x="5623560" y="4343400"/>
            <a:ext cx="5349240" cy="1691640"/>
          </a:xfrm>
          <a:prstGeom prst="roundRect">
            <a:avLst>
              <a:gd name="adj" fmla="val 6486"/>
            </a:avLst>
          </a:prstGeom>
          <a:solidFill>
            <a:srgbClr val="F3EEFF"/>
          </a:solidFill>
          <a:ln w="9525">
            <a:solidFill>
              <a:srgbClr val="CFCBDD"/>
            </a:solidFill>
            <a:prstDash val="solid"/>
          </a:ln>
        </p:spPr>
      </p:sp>
      <p:sp>
        <p:nvSpPr>
          <p:cNvPr id="10" name="limits text"/>
          <p:cNvSpPr txBox="1"/>
          <p:nvPr/>
        </p:nvSpPr>
        <p:spPr>
          <a:xfrm>
            <a:off x="5824728" y="4462272"/>
            <a:ext cx="4946904" cy="1508760"/>
          </a:xfrm>
          <a:prstGeom prst="rect">
            <a:avLst/>
          </a:prstGeom>
          <a:noFill/>
          <a:ln/>
        </p:spPr>
        <p:txBody>
          <a:bodyPr wrap="square" lIns="0" tIns="0" rIns="0" bIns="0" rtlCol="0" anchor="t"/>
          <a:lstStyle/>
          <a:p>
            <a:pPr indent="0" marL="0">
              <a:spcAft>
                <a:spcPts val="300"/>
              </a:spcAft>
              <a:buNone/>
            </a:pPr>
            <a:r>
              <a:rPr lang="en-US" sz="1550" b="1" dirty="0">
                <a:solidFill>
                  <a:srgbClr val="2B237C"/>
                </a:solidFill>
                <a:latin typeface="Segoe UI" pitchFamily="34" charset="0"/>
                <a:ea typeface="Segoe UI" pitchFamily="34" charset="-122"/>
                <a:cs typeface="Segoe UI" pitchFamily="34" charset="-120"/>
              </a:rPr>
              <a:t>What limits the chip</a:t>
            </a:r>
            <a:endParaRPr lang="en-US" sz="1550" dirty="0"/>
          </a:p>
          <a:p>
            <a:pPr marL="342900" indent="-342900">
              <a:spcAft>
                <a:spcPts val="300"/>
              </a:spcAft>
              <a:buSzPct val="100000"/>
              <a:buChar char="•"/>
            </a:pPr>
            <a:r>
              <a:rPr lang="en-US" sz="1300" dirty="0">
                <a:solidFill>
                  <a:srgbClr val="111111"/>
                </a:solidFill>
                <a:latin typeface="Segoe UI" pitchFamily="34" charset="0"/>
                <a:ea typeface="Segoe UI" pitchFamily="34" charset="-122"/>
                <a:cs typeface="Segoe UI" pitchFamily="34" charset="-120"/>
              </a:rPr>
              <a:t>Readout correction: +1 point. Decoupling + twirling: no gain.</a:t>
            </a:r>
            <a:endParaRPr lang="en-US" sz="1550" dirty="0"/>
          </a:p>
          <a:p>
            <a:pPr marL="342900" indent="-342900">
              <a:spcAft>
                <a:spcPts val="300"/>
              </a:spcAft>
              <a:buSzPct val="100000"/>
              <a:buChar char="•"/>
            </a:pPr>
            <a:r>
              <a:rPr lang="en-US" sz="1300" dirty="0">
                <a:solidFill>
                  <a:srgbClr val="111111"/>
                </a:solidFill>
                <a:latin typeface="Segoe UI" pitchFamily="34" charset="0"/>
                <a:ea typeface="Segoe UI" pitchFamily="34" charset="-122"/>
                <a:cs typeface="Segoe UI" pitchFamily="34" charset="-120"/>
              </a:rPr>
              <a:t>The limit is two-qubit gate noise; zero-noise extrapolation is next.</a:t>
            </a:r>
            <a:endParaRPr lang="en-US" sz="1550" dirty="0"/>
          </a:p>
          <a:p>
            <a:pPr marL="342900" indent="-342900">
              <a:spcAft>
                <a:spcPts val="300"/>
              </a:spcAft>
              <a:buSzPct val="100000"/>
              <a:buChar char="•"/>
            </a:pPr>
            <a:r>
              <a:rPr lang="en-US" sz="1300" b="1" dirty="0">
                <a:solidFill>
                  <a:srgbClr val="6D28D9"/>
                </a:solidFill>
                <a:latin typeface="Segoe UI" pitchFamily="34" charset="0"/>
                <a:ea typeface="Segoe UI" pitchFamily="34" charset="-122"/>
                <a:cs typeface="Segoe UI" pitchFamily="34" charset="-120"/>
              </a:rPr>
              <a:t>No quantum advantage claimed.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pill"/>
          <p:cNvSpPr/>
          <p:nvPr/>
        </p:nvSpPr>
        <p:spPr>
          <a:xfrm>
            <a:off x="4617720" y="681228"/>
            <a:ext cx="3255264" cy="429768"/>
          </a:xfrm>
          <a:prstGeom prst="roundRect">
            <a:avLst>
              <a:gd name="adj" fmla="val 50000"/>
            </a:avLst>
          </a:prstGeom>
          <a:solidFill>
            <a:srgbClr val="FA7CB5"/>
          </a:solidFill>
          <a:ln w="12700">
            <a:solidFill>
              <a:srgbClr val="FA7CB5"/>
            </a:solidFill>
            <a:prstDash val="solid"/>
          </a:ln>
        </p:spPr>
      </p:sp>
      <p:sp>
        <p:nvSpPr>
          <p:cNvPr id="3" name="section label"/>
          <p:cNvSpPr txBox="1"/>
          <p:nvPr/>
        </p:nvSpPr>
        <p:spPr>
          <a:xfrm>
            <a:off x="4617720" y="681228"/>
            <a:ext cx="3255264"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Innovation and Roadmap</a:t>
            </a:r>
            <a:endParaRPr lang="en-US" sz="1600" dirty="0"/>
          </a:p>
        </p:txBody>
      </p:sp>
      <p:sp>
        <p:nvSpPr>
          <p:cNvPr id="4" name="Text 0"/>
          <p:cNvSpPr/>
          <p:nvPr>
            <p:ph idx="100" type="title" hasCustomPrompt="1"/>
          </p:nvPr>
        </p:nvSpPr>
        <p:spPr>
          <a:xfrm>
            <a:off x="731520" y="1188720"/>
            <a:ext cx="10728655" cy="868680"/>
          </a:xfrm>
          <a:prstGeom prst="rect">
            <a:avLst/>
          </a:prstGeom>
          <a:noFill/>
          <a:ln/>
        </p:spPr>
        <p:txBody>
          <a:bodyPr wrap="square" lIns="0" tIns="0" rIns="0" bIns="0" rtlCol="0" anchor="ctr"/>
          <a:lstStyle/>
          <a:p>
            <a:pPr algn="ctr" indent="0" marL="0">
              <a:buNone/>
            </a:pPr>
            <a:r>
              <a:rPr lang="en-US" sz="2500" b="1" dirty="0">
                <a:solidFill>
                  <a:srgbClr val="111111"/>
                </a:solidFill>
                <a:latin typeface="Segoe UI" pitchFamily="34" charset="0"/>
                <a:ea typeface="Segoe UI" pitchFamily="34" charset="-122"/>
                <a:cs typeface="Segoe UI" pitchFamily="34" charset="-120"/>
              </a:rPr>
              <a:t>What is </a:t>
            </a:r>
            <a:pPr algn="ctr" indent="0" marL="0">
              <a:buNone/>
            </a:pPr>
            <a:r>
              <a:rPr lang="en-US" sz="2500" b="1" dirty="0">
                <a:solidFill>
                  <a:srgbClr val="FF66C4"/>
                </a:solidFill>
                <a:latin typeface="Segoe UI" pitchFamily="34" charset="0"/>
                <a:ea typeface="Segoe UI" pitchFamily="34" charset="-122"/>
                <a:cs typeface="Segoe UI" pitchFamily="34" charset="-120"/>
              </a:rPr>
              <a:t>new</a:t>
            </a:r>
            <a:pPr algn="ctr" indent="0" marL="0">
              <a:buNone/>
            </a:pPr>
            <a:r>
              <a:rPr lang="en-US" sz="2500" b="1" dirty="0">
                <a:solidFill>
                  <a:srgbClr val="111111"/>
                </a:solidFill>
                <a:latin typeface="Segoe UI" pitchFamily="34" charset="0"/>
                <a:ea typeface="Segoe UI" pitchFamily="34" charset="-122"/>
                <a:cs typeface="Segoe UI" pitchFamily="34" charset="-120"/>
              </a:rPr>
              <a:t>, what it changes, and what comes next</a:t>
            </a:r>
            <a:endParaRPr lang="en-US" sz="2500" dirty="0"/>
          </a:p>
        </p:txBody>
      </p:sp>
      <p:sp>
        <p:nvSpPr>
          <p:cNvPr id="5" name="new label"/>
          <p:cNvSpPr txBox="1"/>
          <p:nvPr/>
        </p:nvSpPr>
        <p:spPr>
          <a:xfrm>
            <a:off x="731520" y="2148840"/>
            <a:ext cx="4937760" cy="256032"/>
          </a:xfrm>
          <a:prstGeom prst="rect">
            <a:avLst/>
          </a:prstGeom>
          <a:noFill/>
          <a:ln/>
        </p:spPr>
        <p:txBody>
          <a:bodyPr wrap="square" lIns="0" tIns="0" rIns="0" bIns="0" rtlCol="0" anchor="ctr"/>
          <a:lstStyle/>
          <a:p>
            <a:pPr indent="0" marL="0">
              <a:buNone/>
            </a:pPr>
            <a:r>
              <a:rPr lang="en-US" sz="1100" b="1" spc="200" kern="0" dirty="0">
                <a:solidFill>
                  <a:srgbClr val="6D28D9"/>
                </a:solidFill>
                <a:latin typeface="Segoe UI" pitchFamily="34" charset="0"/>
                <a:ea typeface="Segoe UI" pitchFamily="34" charset="-122"/>
                <a:cs typeface="Segoe UI" pitchFamily="34" charset="-120"/>
              </a:rPr>
              <a:t>WHAT IS NEW</a:t>
            </a:r>
            <a:endParaRPr lang="en-US" sz="1100" dirty="0"/>
          </a:p>
        </p:txBody>
      </p:sp>
      <p:sp>
        <p:nvSpPr>
          <p:cNvPr id="6" name="new 1 circle"/>
          <p:cNvSpPr/>
          <p:nvPr/>
        </p:nvSpPr>
        <p:spPr>
          <a:xfrm>
            <a:off x="731520" y="2514600"/>
            <a:ext cx="420624" cy="420624"/>
          </a:xfrm>
          <a:prstGeom prst="ellipse">
            <a:avLst/>
          </a:prstGeom>
          <a:solidFill>
            <a:srgbClr val="6D28D9"/>
          </a:solidFill>
          <a:ln w="12700">
            <a:solidFill>
              <a:srgbClr val="6D28D9"/>
            </a:solidFill>
            <a:prstDash val="solid"/>
          </a:ln>
        </p:spPr>
      </p:sp>
      <p:sp>
        <p:nvSpPr>
          <p:cNvPr id="7" name="new 1 number"/>
          <p:cNvSpPr txBox="1"/>
          <p:nvPr/>
        </p:nvSpPr>
        <p:spPr>
          <a:xfrm>
            <a:off x="731520" y="2514600"/>
            <a:ext cx="420624" cy="420624"/>
          </a:xfrm>
          <a:prstGeom prst="rect">
            <a:avLst/>
          </a:prstGeom>
          <a:noFill/>
          <a:ln/>
        </p:spPr>
        <p:txBody>
          <a:bodyPr wrap="square" lIns="0" tIns="0" rIns="0" bIns="0" rtlCol="0" anchor="ctr"/>
          <a:lstStyle/>
          <a:p>
            <a:pPr algn="ctr" indent="0" marL="0">
              <a:buNone/>
            </a:pPr>
            <a:r>
              <a:rPr lang="en-US" sz="1104" b="1" dirty="0">
                <a:solidFill>
                  <a:srgbClr val="FFFFFF"/>
                </a:solidFill>
                <a:latin typeface="Segoe UI" pitchFamily="34" charset="0"/>
                <a:ea typeface="Segoe UI" pitchFamily="34" charset="-122"/>
                <a:cs typeface="Segoe UI" pitchFamily="34" charset="-120"/>
              </a:rPr>
              <a:t>1</a:t>
            </a:r>
            <a:endParaRPr lang="en-US" sz="1104" dirty="0"/>
          </a:p>
        </p:txBody>
      </p:sp>
      <p:sp>
        <p:nvSpPr>
          <p:cNvPr id="8" name="new 1 head"/>
          <p:cNvSpPr txBox="1"/>
          <p:nvPr/>
        </p:nvSpPr>
        <p:spPr>
          <a:xfrm>
            <a:off x="1298448" y="2487168"/>
            <a:ext cx="4480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Coverage as a pairwise term</a:t>
            </a:r>
            <a:endParaRPr lang="en-US" sz="1500" dirty="0"/>
          </a:p>
        </p:txBody>
      </p:sp>
      <p:sp>
        <p:nvSpPr>
          <p:cNvPr id="9" name="new 1 text"/>
          <p:cNvSpPr txBox="1"/>
          <p:nvPr/>
        </p:nvSpPr>
        <p:spPr>
          <a:xfrm>
            <a:off x="1298448" y="2788920"/>
            <a:ext cx="4480560" cy="274320"/>
          </a:xfrm>
          <a:prstGeom prst="rect">
            <a:avLst/>
          </a:prstGeom>
          <a:noFill/>
          <a:ln/>
        </p:spPr>
        <p:txBody>
          <a:bodyPr wrap="square" lIns="0" tIns="0" rIns="0" bIns="0" rtlCol="0" anchor="ctr"/>
          <a:lstStyle/>
          <a:p>
            <a:pPr indent="0" marL="0">
              <a:buNone/>
            </a:pPr>
            <a:r>
              <a:rPr lang="en-US" sz="1250" dirty="0">
                <a:solidFill>
                  <a:srgbClr val="4A4A5A"/>
                </a:solidFill>
                <a:latin typeface="Segoe UI" pitchFamily="34" charset="0"/>
                <a:ea typeface="Segoe UI" pitchFamily="34" charset="-122"/>
                <a:cs typeface="Segoe UI" pitchFamily="34" charset="-120"/>
              </a:rPr>
              <a:t>No extra (ancilla) qubits for coverage</a:t>
            </a:r>
            <a:endParaRPr lang="en-US" sz="1250" dirty="0"/>
          </a:p>
        </p:txBody>
      </p:sp>
      <p:sp>
        <p:nvSpPr>
          <p:cNvPr id="10" name="new 2 circle"/>
          <p:cNvSpPr/>
          <p:nvPr/>
        </p:nvSpPr>
        <p:spPr>
          <a:xfrm>
            <a:off x="731520" y="3300984"/>
            <a:ext cx="420624" cy="420624"/>
          </a:xfrm>
          <a:prstGeom prst="ellipse">
            <a:avLst/>
          </a:prstGeom>
          <a:solidFill>
            <a:srgbClr val="6D28D9"/>
          </a:solidFill>
          <a:ln w="12700">
            <a:solidFill>
              <a:srgbClr val="6D28D9"/>
            </a:solidFill>
            <a:prstDash val="solid"/>
          </a:ln>
        </p:spPr>
      </p:sp>
      <p:sp>
        <p:nvSpPr>
          <p:cNvPr id="11" name="new 2 number"/>
          <p:cNvSpPr txBox="1"/>
          <p:nvPr/>
        </p:nvSpPr>
        <p:spPr>
          <a:xfrm>
            <a:off x="731520" y="3300984"/>
            <a:ext cx="420624" cy="420624"/>
          </a:xfrm>
          <a:prstGeom prst="rect">
            <a:avLst/>
          </a:prstGeom>
          <a:noFill/>
          <a:ln/>
        </p:spPr>
        <p:txBody>
          <a:bodyPr wrap="square" lIns="0" tIns="0" rIns="0" bIns="0" rtlCol="0" anchor="ctr"/>
          <a:lstStyle/>
          <a:p>
            <a:pPr algn="ctr" indent="0" marL="0">
              <a:buNone/>
            </a:pPr>
            <a:r>
              <a:rPr lang="en-US" sz="1104" b="1" dirty="0">
                <a:solidFill>
                  <a:srgbClr val="FFFFFF"/>
                </a:solidFill>
                <a:latin typeface="Segoe UI" pitchFamily="34" charset="0"/>
                <a:ea typeface="Segoe UI" pitchFamily="34" charset="-122"/>
                <a:cs typeface="Segoe UI" pitchFamily="34" charset="-120"/>
              </a:rPr>
              <a:t>2</a:t>
            </a:r>
            <a:endParaRPr lang="en-US" sz="1104" dirty="0"/>
          </a:p>
        </p:txBody>
      </p:sp>
      <p:sp>
        <p:nvSpPr>
          <p:cNvPr id="12" name="new 2 head"/>
          <p:cNvSpPr txBox="1"/>
          <p:nvPr/>
        </p:nvSpPr>
        <p:spPr>
          <a:xfrm>
            <a:off x="1298448" y="3273552"/>
            <a:ext cx="4480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Provably safe, tight penalty</a:t>
            </a:r>
            <a:endParaRPr lang="en-US" sz="1500" dirty="0"/>
          </a:p>
        </p:txBody>
      </p:sp>
      <p:sp>
        <p:nvSpPr>
          <p:cNvPr id="13" name="new 2 text"/>
          <p:cNvSpPr txBox="1"/>
          <p:nvPr/>
        </p:nvSpPr>
        <p:spPr>
          <a:xfrm>
            <a:off x="1298448" y="3575304"/>
            <a:ext cx="4480560" cy="274320"/>
          </a:xfrm>
          <a:prstGeom prst="rect">
            <a:avLst/>
          </a:prstGeom>
          <a:noFill/>
          <a:ln/>
        </p:spPr>
        <p:txBody>
          <a:bodyPr wrap="square" lIns="0" tIns="0" rIns="0" bIns="0" rtlCol="0" anchor="ctr"/>
          <a:lstStyle/>
          <a:p>
            <a:pPr indent="0" marL="0">
              <a:buNone/>
            </a:pPr>
            <a:r>
              <a:rPr lang="en-US" sz="1250" dirty="0">
                <a:solidFill>
                  <a:srgbClr val="4A4A5A"/>
                </a:solidFill>
                <a:latin typeface="Segoe UI" pitchFamily="34" charset="0"/>
                <a:ea typeface="Segoe UI" pitchFamily="34" charset="-122"/>
                <a:cs typeface="Segoe UI" pitchFamily="34" charset="-120"/>
              </a:rPr>
              <a:t>Every minimum is valid; 2.16× vs 0.62× at 4P</a:t>
            </a:r>
            <a:endParaRPr lang="en-US" sz="1250" dirty="0"/>
          </a:p>
        </p:txBody>
      </p:sp>
      <p:sp>
        <p:nvSpPr>
          <p:cNvPr id="14" name="new 3 circle"/>
          <p:cNvSpPr/>
          <p:nvPr/>
        </p:nvSpPr>
        <p:spPr>
          <a:xfrm>
            <a:off x="731520" y="4087368"/>
            <a:ext cx="420624" cy="420624"/>
          </a:xfrm>
          <a:prstGeom prst="ellipse">
            <a:avLst/>
          </a:prstGeom>
          <a:solidFill>
            <a:srgbClr val="6D28D9"/>
          </a:solidFill>
          <a:ln w="12700">
            <a:solidFill>
              <a:srgbClr val="6D28D9"/>
            </a:solidFill>
            <a:prstDash val="solid"/>
          </a:ln>
        </p:spPr>
      </p:sp>
      <p:sp>
        <p:nvSpPr>
          <p:cNvPr id="15" name="new 3 number"/>
          <p:cNvSpPr txBox="1"/>
          <p:nvPr/>
        </p:nvSpPr>
        <p:spPr>
          <a:xfrm>
            <a:off x="731520" y="4087368"/>
            <a:ext cx="420624" cy="420624"/>
          </a:xfrm>
          <a:prstGeom prst="rect">
            <a:avLst/>
          </a:prstGeom>
          <a:noFill/>
          <a:ln/>
        </p:spPr>
        <p:txBody>
          <a:bodyPr wrap="square" lIns="0" tIns="0" rIns="0" bIns="0" rtlCol="0" anchor="ctr"/>
          <a:lstStyle/>
          <a:p>
            <a:pPr algn="ctr" indent="0" marL="0">
              <a:buNone/>
            </a:pPr>
            <a:r>
              <a:rPr lang="en-US" sz="1104" b="1" dirty="0">
                <a:solidFill>
                  <a:srgbClr val="FFFFFF"/>
                </a:solidFill>
                <a:latin typeface="Segoe UI" pitchFamily="34" charset="0"/>
                <a:ea typeface="Segoe UI" pitchFamily="34" charset="-122"/>
                <a:cs typeface="Segoe UI" pitchFamily="34" charset="-120"/>
              </a:rPr>
              <a:t>3</a:t>
            </a:r>
            <a:endParaRPr lang="en-US" sz="1104" dirty="0"/>
          </a:p>
        </p:txBody>
      </p:sp>
      <p:sp>
        <p:nvSpPr>
          <p:cNvPr id="16" name="new 3 head"/>
          <p:cNvSpPr txBox="1"/>
          <p:nvPr/>
        </p:nvSpPr>
        <p:spPr>
          <a:xfrm>
            <a:off x="1298448" y="4059936"/>
            <a:ext cx="4480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Small circuits by design</a:t>
            </a:r>
            <a:endParaRPr lang="en-US" sz="1500" dirty="0"/>
          </a:p>
        </p:txBody>
      </p:sp>
      <p:sp>
        <p:nvSpPr>
          <p:cNvPr id="17" name="new 3 text"/>
          <p:cNvSpPr txBox="1"/>
          <p:nvPr/>
        </p:nvSpPr>
        <p:spPr>
          <a:xfrm>
            <a:off x="1298448" y="4361688"/>
            <a:ext cx="4480560" cy="274320"/>
          </a:xfrm>
          <a:prstGeom prst="rect">
            <a:avLst/>
          </a:prstGeom>
          <a:noFill/>
          <a:ln/>
        </p:spPr>
        <p:txBody>
          <a:bodyPr wrap="square" lIns="0" tIns="0" rIns="0" bIns="0" rtlCol="0" anchor="ctr"/>
          <a:lstStyle/>
          <a:p>
            <a:pPr indent="0" marL="0">
              <a:buNone/>
            </a:pPr>
            <a:r>
              <a:rPr lang="en-US" sz="1250" dirty="0">
                <a:solidFill>
                  <a:srgbClr val="4A4A5A"/>
                </a:solidFill>
                <a:latin typeface="Segoe UI" pitchFamily="34" charset="0"/>
                <a:ea typeface="Segoe UI" pitchFamily="34" charset="-122"/>
                <a:cs typeface="Segoe UI" pitchFamily="34" charset="-120"/>
              </a:rPr>
              <a:t>~2 qubits per decision; 8–12 when calls coincide</a:t>
            </a:r>
            <a:endParaRPr lang="en-US" sz="1250" dirty="0"/>
          </a:p>
        </p:txBody>
      </p:sp>
      <p:sp>
        <p:nvSpPr>
          <p:cNvPr id="18" name="new 4 circle"/>
          <p:cNvSpPr/>
          <p:nvPr/>
        </p:nvSpPr>
        <p:spPr>
          <a:xfrm>
            <a:off x="731520" y="4873752"/>
            <a:ext cx="420624" cy="420624"/>
          </a:xfrm>
          <a:prstGeom prst="ellipse">
            <a:avLst/>
          </a:prstGeom>
          <a:solidFill>
            <a:srgbClr val="1E9AA8"/>
          </a:solidFill>
          <a:ln w="12700">
            <a:solidFill>
              <a:srgbClr val="1E9AA8"/>
            </a:solidFill>
            <a:prstDash val="solid"/>
          </a:ln>
        </p:spPr>
      </p:sp>
      <p:sp>
        <p:nvSpPr>
          <p:cNvPr id="19" name="new 4 number"/>
          <p:cNvSpPr txBox="1"/>
          <p:nvPr/>
        </p:nvSpPr>
        <p:spPr>
          <a:xfrm>
            <a:off x="731520" y="4873752"/>
            <a:ext cx="420624" cy="420624"/>
          </a:xfrm>
          <a:prstGeom prst="rect">
            <a:avLst/>
          </a:prstGeom>
          <a:noFill/>
          <a:ln/>
        </p:spPr>
        <p:txBody>
          <a:bodyPr wrap="square" lIns="0" tIns="0" rIns="0" bIns="0" rtlCol="0" anchor="ctr"/>
          <a:lstStyle/>
          <a:p>
            <a:pPr algn="ctr" indent="0" marL="0">
              <a:buNone/>
            </a:pPr>
            <a:r>
              <a:rPr lang="en-US" sz="1104" b="1" dirty="0">
                <a:solidFill>
                  <a:srgbClr val="FFFFFF"/>
                </a:solidFill>
                <a:latin typeface="Segoe UI" pitchFamily="34" charset="0"/>
                <a:ea typeface="Segoe UI" pitchFamily="34" charset="-122"/>
                <a:cs typeface="Segoe UI" pitchFamily="34" charset="-120"/>
              </a:rPr>
              <a:t>4</a:t>
            </a:r>
            <a:endParaRPr lang="en-US" sz="1104" dirty="0"/>
          </a:p>
        </p:txBody>
      </p:sp>
      <p:sp>
        <p:nvSpPr>
          <p:cNvPr id="20" name="new 4 head"/>
          <p:cNvSpPr txBox="1"/>
          <p:nvPr/>
        </p:nvSpPr>
        <p:spPr>
          <a:xfrm>
            <a:off x="1298448" y="4846320"/>
            <a:ext cx="4480560" cy="292608"/>
          </a:xfrm>
          <a:prstGeom prst="rect">
            <a:avLst/>
          </a:prstGeom>
          <a:noFill/>
          <a:ln/>
        </p:spPr>
        <p:txBody>
          <a:bodyPr wrap="square" lIns="0" tIns="0" rIns="0" bIns="0" rtlCol="0" anchor="ctr"/>
          <a:lstStyle/>
          <a:p>
            <a:pPr indent="0" marL="0">
              <a:buNone/>
            </a:pPr>
            <a:r>
              <a:rPr lang="en-US" sz="1500" b="1" dirty="0">
                <a:solidFill>
                  <a:srgbClr val="2B237C"/>
                </a:solidFill>
                <a:latin typeface="Segoe UI" pitchFamily="34" charset="0"/>
                <a:ea typeface="Segoe UI" pitchFamily="34" charset="-122"/>
                <a:cs typeface="Segoe UI" pitchFamily="34" charset="-120"/>
              </a:rPr>
              <a:t>Honest hardware validation</a:t>
            </a:r>
            <a:endParaRPr lang="en-US" sz="1500" dirty="0"/>
          </a:p>
        </p:txBody>
      </p:sp>
      <p:sp>
        <p:nvSpPr>
          <p:cNvPr id="21" name="new 4 text"/>
          <p:cNvSpPr txBox="1"/>
          <p:nvPr/>
        </p:nvSpPr>
        <p:spPr>
          <a:xfrm>
            <a:off x="1298448" y="5148072"/>
            <a:ext cx="4480560" cy="274320"/>
          </a:xfrm>
          <a:prstGeom prst="rect">
            <a:avLst/>
          </a:prstGeom>
          <a:noFill/>
          <a:ln/>
        </p:spPr>
        <p:txBody>
          <a:bodyPr wrap="square" lIns="0" tIns="0" rIns="0" bIns="0" rtlCol="0" anchor="ctr"/>
          <a:lstStyle/>
          <a:p>
            <a:pPr indent="0" marL="0">
              <a:buNone/>
            </a:pPr>
            <a:r>
              <a:rPr lang="en-US" sz="1250" dirty="0">
                <a:solidFill>
                  <a:srgbClr val="4A4A5A"/>
                </a:solidFill>
                <a:latin typeface="Segoe UI" pitchFamily="34" charset="0"/>
                <a:ea typeface="Segoe UI" pitchFamily="34" charset="-122"/>
                <a:cs typeface="Segoe UI" pitchFamily="34" charset="-120"/>
              </a:rPr>
              <a:t>2 IBM chips, repeats, mitigation, baselines</a:t>
            </a:r>
            <a:endParaRPr lang="en-US" sz="1250" dirty="0"/>
          </a:p>
        </p:txBody>
      </p:sp>
      <p:sp>
        <p:nvSpPr>
          <p:cNvPr id="22" name="road label"/>
          <p:cNvSpPr txBox="1"/>
          <p:nvPr/>
        </p:nvSpPr>
        <p:spPr>
          <a:xfrm>
            <a:off x="6172200" y="2148840"/>
            <a:ext cx="4572000" cy="256032"/>
          </a:xfrm>
          <a:prstGeom prst="rect">
            <a:avLst/>
          </a:prstGeom>
          <a:noFill/>
          <a:ln/>
        </p:spPr>
        <p:txBody>
          <a:bodyPr wrap="square" lIns="0" tIns="0" rIns="0" bIns="0" rtlCol="0" anchor="ctr"/>
          <a:lstStyle/>
          <a:p>
            <a:pPr indent="0" marL="0">
              <a:buNone/>
            </a:pPr>
            <a:r>
              <a:rPr lang="en-US" sz="1100" b="1" spc="200" kern="0" dirty="0">
                <a:solidFill>
                  <a:srgbClr val="6D28D9"/>
                </a:solidFill>
                <a:latin typeface="Segoe UI" pitchFamily="34" charset="0"/>
                <a:ea typeface="Segoe UI" pitchFamily="34" charset="-122"/>
                <a:cs typeface="Segoe UI" pitchFamily="34" charset="-120"/>
              </a:rPr>
              <a:t>ROADMAP</a:t>
            </a:r>
            <a:endParaRPr lang="en-US" sz="1100" dirty="0"/>
          </a:p>
        </p:txBody>
      </p:sp>
      <p:sp>
        <p:nvSpPr>
          <p:cNvPr id="23" name="road line"/>
          <p:cNvSpPr/>
          <p:nvPr/>
        </p:nvSpPr>
        <p:spPr>
          <a:xfrm>
            <a:off x="6327648" y="2697480"/>
            <a:ext cx="0" cy="2606040"/>
          </a:xfrm>
          <a:prstGeom prst="line">
            <a:avLst/>
          </a:prstGeom>
          <a:noFill/>
          <a:ln w="25400">
            <a:solidFill>
              <a:srgbClr val="1A1A1A"/>
            </a:solidFill>
            <a:prstDash val="solid"/>
          </a:ln>
        </p:spPr>
      </p:sp>
      <p:sp>
        <p:nvSpPr>
          <p:cNvPr id="24" name="road 1 dot"/>
          <p:cNvSpPr/>
          <p:nvPr/>
        </p:nvSpPr>
        <p:spPr>
          <a:xfrm>
            <a:off x="6172200" y="2542032"/>
            <a:ext cx="310896" cy="310896"/>
          </a:xfrm>
          <a:prstGeom prst="ellipse">
            <a:avLst/>
          </a:prstGeom>
          <a:solidFill>
            <a:srgbClr val="6D28D9"/>
          </a:solidFill>
          <a:ln w="15875">
            <a:solidFill>
              <a:srgbClr val="1A1A1A"/>
            </a:solidFill>
            <a:prstDash val="solid"/>
          </a:ln>
        </p:spPr>
      </p:sp>
      <p:sp>
        <p:nvSpPr>
          <p:cNvPr id="25" name="road 1 when"/>
          <p:cNvSpPr txBox="1"/>
          <p:nvPr/>
        </p:nvSpPr>
        <p:spPr>
          <a:xfrm>
            <a:off x="6629400" y="2551176"/>
            <a:ext cx="685800" cy="292608"/>
          </a:xfrm>
          <a:prstGeom prst="rect">
            <a:avLst/>
          </a:prstGeom>
          <a:noFill/>
          <a:ln/>
        </p:spPr>
        <p:txBody>
          <a:bodyPr wrap="square" lIns="0" tIns="0" rIns="0" bIns="0"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Done</a:t>
            </a:r>
            <a:endParaRPr lang="en-US" sz="1300" dirty="0"/>
          </a:p>
        </p:txBody>
      </p:sp>
      <p:sp>
        <p:nvSpPr>
          <p:cNvPr id="26" name="road 1 text"/>
          <p:cNvSpPr txBox="1"/>
          <p:nvPr/>
        </p:nvSpPr>
        <p:spPr>
          <a:xfrm>
            <a:off x="7315200" y="2551176"/>
            <a:ext cx="3657600" cy="310896"/>
          </a:xfrm>
          <a:prstGeom prst="rect">
            <a:avLst/>
          </a:prstGeom>
          <a:noFill/>
          <a:ln/>
        </p:spPr>
        <p:txBody>
          <a:bodyPr wrap="square" lIns="0" tIns="0" rIns="0" bIns="0" rtlCol="0" anchor="ctr"/>
          <a:lstStyle/>
          <a:p>
            <a:pPr indent="0" marL="0">
              <a:buNone/>
            </a:pPr>
            <a:r>
              <a:rPr lang="en-US" sz="1300" dirty="0">
                <a:solidFill>
                  <a:srgbClr val="111111"/>
                </a:solidFill>
                <a:latin typeface="Segoe UI" pitchFamily="34" charset="0"/>
                <a:ea typeface="Segoe UI" pitchFamily="34" charset="-122"/>
                <a:cs typeface="Segoe UI" pitchFamily="34" charset="-120"/>
              </a:rPr>
              <a:t>Real IBM hardware: 9 jobs, 2 chips, 4–10 qubits</a:t>
            </a:r>
            <a:endParaRPr lang="en-US" sz="1300" dirty="0"/>
          </a:p>
        </p:txBody>
      </p:sp>
      <p:sp>
        <p:nvSpPr>
          <p:cNvPr id="27" name="road 2 dot"/>
          <p:cNvSpPr/>
          <p:nvPr/>
        </p:nvSpPr>
        <p:spPr>
          <a:xfrm>
            <a:off x="6172200" y="3182112"/>
            <a:ext cx="310896" cy="310896"/>
          </a:xfrm>
          <a:prstGeom prst="ellipse">
            <a:avLst/>
          </a:prstGeom>
          <a:solidFill>
            <a:srgbClr val="FA7CB5"/>
          </a:solidFill>
          <a:ln w="15875">
            <a:solidFill>
              <a:srgbClr val="1A1A1A"/>
            </a:solidFill>
            <a:prstDash val="solid"/>
          </a:ln>
        </p:spPr>
      </p:sp>
      <p:sp>
        <p:nvSpPr>
          <p:cNvPr id="28" name="road 2 when"/>
          <p:cNvSpPr txBox="1"/>
          <p:nvPr/>
        </p:nvSpPr>
        <p:spPr>
          <a:xfrm>
            <a:off x="6629400" y="3191256"/>
            <a:ext cx="685800" cy="292608"/>
          </a:xfrm>
          <a:prstGeom prst="rect">
            <a:avLst/>
          </a:prstGeom>
          <a:noFill/>
          <a:ln/>
        </p:spPr>
        <p:txBody>
          <a:bodyPr wrap="square" lIns="0" tIns="0" rIns="0" bIns="0"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Next</a:t>
            </a:r>
            <a:endParaRPr lang="en-US" sz="1300" dirty="0"/>
          </a:p>
        </p:txBody>
      </p:sp>
      <p:sp>
        <p:nvSpPr>
          <p:cNvPr id="29" name="road 2 text"/>
          <p:cNvSpPr txBox="1"/>
          <p:nvPr/>
        </p:nvSpPr>
        <p:spPr>
          <a:xfrm>
            <a:off x="7315200" y="3191256"/>
            <a:ext cx="3657600" cy="310896"/>
          </a:xfrm>
          <a:prstGeom prst="rect">
            <a:avLst/>
          </a:prstGeom>
          <a:noFill/>
          <a:ln/>
        </p:spPr>
        <p:txBody>
          <a:bodyPr wrap="square" lIns="0" tIns="0" rIns="0" bIns="0" rtlCol="0" anchor="ctr"/>
          <a:lstStyle/>
          <a:p>
            <a:pPr indent="0" marL="0">
              <a:buNone/>
            </a:pPr>
            <a:r>
              <a:rPr lang="en-US" sz="1300" dirty="0">
                <a:solidFill>
                  <a:srgbClr val="111111"/>
                </a:solidFill>
                <a:latin typeface="Segoe UI" pitchFamily="34" charset="0"/>
                <a:ea typeface="Segoe UI" pitchFamily="34" charset="-122"/>
                <a:cs typeface="Segoe UI" pitchFamily="34" charset="-120"/>
              </a:rPr>
              <a:t>Zero-noise extrapolation for two-qubit gate noise</a:t>
            </a:r>
            <a:endParaRPr lang="en-US" sz="1300" dirty="0"/>
          </a:p>
        </p:txBody>
      </p:sp>
      <p:sp>
        <p:nvSpPr>
          <p:cNvPr id="30" name="road 3 dot"/>
          <p:cNvSpPr/>
          <p:nvPr/>
        </p:nvSpPr>
        <p:spPr>
          <a:xfrm>
            <a:off x="6172200" y="3822192"/>
            <a:ext cx="310896" cy="310896"/>
          </a:xfrm>
          <a:prstGeom prst="ellipse">
            <a:avLst/>
          </a:prstGeom>
          <a:solidFill>
            <a:srgbClr val="FA7CB5"/>
          </a:solidFill>
          <a:ln w="15875">
            <a:solidFill>
              <a:srgbClr val="1A1A1A"/>
            </a:solidFill>
            <a:prstDash val="solid"/>
          </a:ln>
        </p:spPr>
      </p:sp>
      <p:sp>
        <p:nvSpPr>
          <p:cNvPr id="31" name="road 3 when"/>
          <p:cNvSpPr txBox="1"/>
          <p:nvPr/>
        </p:nvSpPr>
        <p:spPr>
          <a:xfrm>
            <a:off x="6629400" y="3831336"/>
            <a:ext cx="685800" cy="292608"/>
          </a:xfrm>
          <a:prstGeom prst="rect">
            <a:avLst/>
          </a:prstGeom>
          <a:noFill/>
          <a:ln/>
        </p:spPr>
        <p:txBody>
          <a:bodyPr wrap="square" lIns="0" tIns="0" rIns="0" bIns="0"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Next</a:t>
            </a:r>
            <a:endParaRPr lang="en-US" sz="1300" dirty="0"/>
          </a:p>
        </p:txBody>
      </p:sp>
      <p:sp>
        <p:nvSpPr>
          <p:cNvPr id="32" name="road 3 text"/>
          <p:cNvSpPr txBox="1"/>
          <p:nvPr/>
        </p:nvSpPr>
        <p:spPr>
          <a:xfrm>
            <a:off x="7315200" y="3831336"/>
            <a:ext cx="3657600" cy="310896"/>
          </a:xfrm>
          <a:prstGeom prst="rect">
            <a:avLst/>
          </a:prstGeom>
          <a:noFill/>
          <a:ln/>
        </p:spPr>
        <p:txBody>
          <a:bodyPr wrap="square" lIns="0" tIns="0" rIns="0" bIns="0" rtlCol="0" anchor="ctr"/>
          <a:lstStyle/>
          <a:p>
            <a:pPr indent="0" marL="0">
              <a:buNone/>
            </a:pPr>
            <a:r>
              <a:rPr lang="en-US" sz="1300" dirty="0">
                <a:solidFill>
                  <a:srgbClr val="111111"/>
                </a:solidFill>
                <a:latin typeface="Segoe UI" pitchFamily="34" charset="0"/>
                <a:ea typeface="Segoe UI" pitchFamily="34" charset="-122"/>
                <a:cs typeface="Segoe UI" pitchFamily="34" charset="-120"/>
              </a:rPr>
              <a:t>XY mixer: keep samples valid (45–71% today)</a:t>
            </a:r>
            <a:endParaRPr lang="en-US" sz="1300" dirty="0"/>
          </a:p>
        </p:txBody>
      </p:sp>
      <p:sp>
        <p:nvSpPr>
          <p:cNvPr id="33" name="road 4 dot"/>
          <p:cNvSpPr/>
          <p:nvPr/>
        </p:nvSpPr>
        <p:spPr>
          <a:xfrm>
            <a:off x="6172200" y="4462272"/>
            <a:ext cx="310896" cy="310896"/>
          </a:xfrm>
          <a:prstGeom prst="ellipse">
            <a:avLst/>
          </a:prstGeom>
          <a:solidFill>
            <a:srgbClr val="FA7CB5"/>
          </a:solidFill>
          <a:ln w="15875">
            <a:solidFill>
              <a:srgbClr val="1A1A1A"/>
            </a:solidFill>
            <a:prstDash val="solid"/>
          </a:ln>
        </p:spPr>
      </p:sp>
      <p:sp>
        <p:nvSpPr>
          <p:cNvPr id="34" name="road 4 when"/>
          <p:cNvSpPr txBox="1"/>
          <p:nvPr/>
        </p:nvSpPr>
        <p:spPr>
          <a:xfrm>
            <a:off x="6629400" y="4471416"/>
            <a:ext cx="685800" cy="292608"/>
          </a:xfrm>
          <a:prstGeom prst="rect">
            <a:avLst/>
          </a:prstGeom>
          <a:noFill/>
          <a:ln/>
        </p:spPr>
        <p:txBody>
          <a:bodyPr wrap="square" lIns="0" tIns="0" rIns="0" bIns="0"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Next</a:t>
            </a:r>
            <a:endParaRPr lang="en-US" sz="1300" dirty="0"/>
          </a:p>
        </p:txBody>
      </p:sp>
      <p:sp>
        <p:nvSpPr>
          <p:cNvPr id="35" name="road 4 text"/>
          <p:cNvSpPr txBox="1"/>
          <p:nvPr/>
        </p:nvSpPr>
        <p:spPr>
          <a:xfrm>
            <a:off x="7315200" y="4471416"/>
            <a:ext cx="3657600" cy="310896"/>
          </a:xfrm>
          <a:prstGeom prst="rect">
            <a:avLst/>
          </a:prstGeom>
          <a:noFill/>
          <a:ln/>
        </p:spPr>
        <p:txBody>
          <a:bodyPr wrap="square" lIns="0" tIns="0" rIns="0" bIns="0" rtlCol="0" anchor="ctr"/>
          <a:lstStyle/>
          <a:p>
            <a:pPr indent="0" marL="0">
              <a:buNone/>
            </a:pPr>
            <a:r>
              <a:rPr lang="en-US" sz="1300" dirty="0">
                <a:solidFill>
                  <a:srgbClr val="111111"/>
                </a:solidFill>
                <a:latin typeface="Segoe UI" pitchFamily="34" charset="0"/>
                <a:ea typeface="Segoe UI" pitchFamily="34" charset="-122"/>
                <a:cs typeface="Segoe UI" pitchFamily="34" charset="-120"/>
              </a:rPr>
              <a:t>More chips, more days (28% → 48% drift seen)</a:t>
            </a:r>
            <a:endParaRPr lang="en-US" sz="1300" dirty="0"/>
          </a:p>
        </p:txBody>
      </p:sp>
      <p:sp>
        <p:nvSpPr>
          <p:cNvPr id="36" name="road 5 dot"/>
          <p:cNvSpPr/>
          <p:nvPr/>
        </p:nvSpPr>
        <p:spPr>
          <a:xfrm>
            <a:off x="6172200" y="5102352"/>
            <a:ext cx="310896" cy="310896"/>
          </a:xfrm>
          <a:prstGeom prst="ellipse">
            <a:avLst/>
          </a:prstGeom>
          <a:solidFill>
            <a:srgbClr val="FA7CB5"/>
          </a:solidFill>
          <a:ln w="15875">
            <a:solidFill>
              <a:srgbClr val="1A1A1A"/>
            </a:solidFill>
            <a:prstDash val="solid"/>
          </a:ln>
        </p:spPr>
      </p:sp>
      <p:sp>
        <p:nvSpPr>
          <p:cNvPr id="37" name="road 5 when"/>
          <p:cNvSpPr txBox="1"/>
          <p:nvPr/>
        </p:nvSpPr>
        <p:spPr>
          <a:xfrm>
            <a:off x="6629400" y="5111496"/>
            <a:ext cx="685800" cy="292608"/>
          </a:xfrm>
          <a:prstGeom prst="rect">
            <a:avLst/>
          </a:prstGeom>
          <a:noFill/>
          <a:ln/>
        </p:spPr>
        <p:txBody>
          <a:bodyPr wrap="square" lIns="0" tIns="0" rIns="0" bIns="0"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Pilot</a:t>
            </a:r>
            <a:endParaRPr lang="en-US" sz="1300" dirty="0"/>
          </a:p>
        </p:txBody>
      </p:sp>
      <p:sp>
        <p:nvSpPr>
          <p:cNvPr id="38" name="road 5 text"/>
          <p:cNvSpPr txBox="1"/>
          <p:nvPr/>
        </p:nvSpPr>
        <p:spPr>
          <a:xfrm>
            <a:off x="7315200" y="5111496"/>
            <a:ext cx="3657600" cy="310896"/>
          </a:xfrm>
          <a:prstGeom prst="rect">
            <a:avLst/>
          </a:prstGeom>
          <a:noFill/>
          <a:ln/>
        </p:spPr>
        <p:txBody>
          <a:bodyPr wrap="square" lIns="0" tIns="0" rIns="0" bIns="0" rtlCol="0" anchor="ctr"/>
          <a:lstStyle/>
          <a:p>
            <a:pPr indent="0" marL="0">
              <a:buNone/>
            </a:pPr>
            <a:r>
              <a:rPr lang="en-US" sz="1300" dirty="0">
                <a:solidFill>
                  <a:srgbClr val="111111"/>
                </a:solidFill>
                <a:latin typeface="Segoe UI" pitchFamily="34" charset="0"/>
                <a:ea typeface="Segoe UI" pitchFamily="34" charset="-122"/>
                <a:cs typeface="Segoe UI" pitchFamily="34" charset="-120"/>
              </a:rPr>
              <a:t>Real 108 call logs, decision support for dispatchers</a:t>
            </a:r>
            <a:endParaRPr lang="en-US" sz="1300" dirty="0"/>
          </a:p>
        </p:txBody>
      </p:sp>
      <p:sp>
        <p:nvSpPr>
          <p:cNvPr id="39" name="impact strip"/>
          <p:cNvSpPr/>
          <p:nvPr/>
        </p:nvSpPr>
        <p:spPr>
          <a:xfrm>
            <a:off x="731520" y="5715000"/>
            <a:ext cx="10241280" cy="566928"/>
          </a:xfrm>
          <a:prstGeom prst="roundRect">
            <a:avLst>
              <a:gd name="adj" fmla="val 19355"/>
            </a:avLst>
          </a:prstGeom>
          <a:solidFill>
            <a:srgbClr val="F3EEFF"/>
          </a:solidFill>
          <a:ln w="9525">
            <a:solidFill>
              <a:srgbClr val="CFCBDD"/>
            </a:solidFill>
            <a:prstDash val="solid"/>
          </a:ln>
        </p:spPr>
      </p:sp>
      <p:sp>
        <p:nvSpPr>
          <p:cNvPr id="40" name="impact text"/>
          <p:cNvSpPr txBox="1"/>
          <p:nvPr/>
        </p:nvSpPr>
        <p:spPr>
          <a:xfrm>
            <a:off x="960120" y="5715000"/>
            <a:ext cx="9784080" cy="566928"/>
          </a:xfrm>
          <a:prstGeom prst="rect">
            <a:avLst/>
          </a:prstGeom>
          <a:noFill/>
          <a:ln/>
        </p:spPr>
        <p:txBody>
          <a:bodyPr wrap="square" lIns="0" tIns="0" rIns="0" bIns="0" rtlCol="0" anchor="ctr"/>
          <a:lstStyle/>
          <a:p>
            <a:pPr indent="0" marL="0">
              <a:buNone/>
            </a:pPr>
            <a:r>
              <a:rPr lang="en-US" sz="1350" b="1" dirty="0">
                <a:solidFill>
                  <a:srgbClr val="6D28D9"/>
                </a:solidFill>
                <a:latin typeface="Segoe UI" pitchFamily="34" charset="0"/>
                <a:ea typeface="Segoe UI" pitchFamily="34" charset="-122"/>
                <a:cs typeface="Segoe UI" pitchFamily="34" charset="-120"/>
              </a:rPr>
              <a:t>Impact:  </a:t>
            </a:r>
            <a:pPr indent="0" marL="0">
              <a:buNone/>
            </a:pPr>
            <a:r>
              <a:rPr lang="en-US" sz="1350" dirty="0">
                <a:solidFill>
                  <a:srgbClr val="111111"/>
                </a:solidFill>
                <a:latin typeface="Segoe UI" pitchFamily="34" charset="0"/>
                <a:ea typeface="Segoe UI" pitchFamily="34" charset="-122"/>
                <a:cs typeface="Segoe UI" pitchFamily="34" charset="-120"/>
              </a:rPr>
              <a:t>faster response  ·  no area left without backup  ·  a pipeline that grows with quantum hardware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pill"/>
          <p:cNvSpPr/>
          <p:nvPr/>
        </p:nvSpPr>
        <p:spPr>
          <a:xfrm>
            <a:off x="4288536" y="1261872"/>
            <a:ext cx="3255264" cy="429768"/>
          </a:xfrm>
          <a:prstGeom prst="roundRect">
            <a:avLst>
              <a:gd name="adj" fmla="val 50000"/>
            </a:avLst>
          </a:prstGeom>
          <a:solidFill>
            <a:srgbClr val="E0E0E0"/>
          </a:solidFill>
          <a:ln w="12700">
            <a:solidFill>
              <a:srgbClr val="E0E0E0"/>
            </a:solidFill>
            <a:prstDash val="solid"/>
          </a:ln>
        </p:spPr>
      </p:sp>
      <p:sp>
        <p:nvSpPr>
          <p:cNvPr id="3" name="section label"/>
          <p:cNvSpPr txBox="1"/>
          <p:nvPr/>
        </p:nvSpPr>
        <p:spPr>
          <a:xfrm>
            <a:off x="4288536" y="1261872"/>
            <a:ext cx="3255264" cy="429768"/>
          </a:xfrm>
          <a:prstGeom prst="rect">
            <a:avLst/>
          </a:prstGeom>
          <a:noFill/>
          <a:ln/>
        </p:spPr>
        <p:txBody>
          <a:bodyPr wrap="square" lIns="0" tIns="0" rIns="0" bIns="0" rtlCol="0" anchor="ctr"/>
          <a:lstStyle/>
          <a:p>
            <a:pPr algn="ctr" indent="0" marL="0">
              <a:buNone/>
            </a:pPr>
            <a:r>
              <a:rPr lang="en-US" sz="1600" dirty="0">
                <a:solidFill>
                  <a:srgbClr val="111111"/>
                </a:solidFill>
                <a:latin typeface="Segoe UI" pitchFamily="34" charset="0"/>
                <a:ea typeface="Segoe UI" pitchFamily="34" charset="-122"/>
                <a:cs typeface="Segoe UI" pitchFamily="34" charset="-120"/>
              </a:rPr>
              <a:t>References and Sources</a:t>
            </a:r>
            <a:endParaRPr lang="en-US" sz="1600" dirty="0"/>
          </a:p>
        </p:txBody>
      </p:sp>
      <p:sp>
        <p:nvSpPr>
          <p:cNvPr id="4" name="references"/>
          <p:cNvSpPr txBox="1"/>
          <p:nvPr/>
        </p:nvSpPr>
        <p:spPr>
          <a:xfrm>
            <a:off x="822960" y="1965960"/>
            <a:ext cx="6949440" cy="4389120"/>
          </a:xfrm>
          <a:prstGeom prst="rect">
            <a:avLst/>
          </a:prstGeom>
          <a:noFill/>
          <a:ln/>
        </p:spPr>
        <p:txBody>
          <a:bodyPr wrap="square" lIns="0" tIns="0" rIns="0" bIns="0" rtlCol="0" anchor="t"/>
          <a:lstStyle/>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1. TNHSP, 108 Ambulance research dataset (Tamil Nadu)</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https://www.tnhsp.org/pages/view/108_Application</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2. IBM Quantum Platform and Qiskit documentation</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https://quantum.cloud.ibm.com/docs</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3. Farhi, Goldstone, Gutmann (2014), Quantum Approximate Optimization Algorithm</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https://arxiv.org/abs/1411.4028</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4. Zhou et al. (2020), QAOA performance and INTERP, PRX 10, 021067</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https://arxiv.org/abs/1812.01041</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5. Lucas (2014), Ising formulations of many NP problems</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https://arxiv.org/abs/1302.5843</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6. Jagtenberg et al. (2017), Is closest-idle always optimal?</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https://doi.org/10.1007/s10729-016-9368-0</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7. ETV Bharat (June 2026), National Ambulance Services guidelines 2026</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https://www.etvbharat.com/en/bharat/national-ambulance-services-gui…</a:t>
            </a:r>
            <a:endParaRPr lang="en-US" sz="1250" dirty="0"/>
          </a:p>
          <a:p>
            <a:pPr indent="0" marL="0">
              <a:spcAft>
                <a:spcPts val="200"/>
              </a:spcAft>
              <a:buNone/>
            </a:pPr>
            <a:r>
              <a:rPr lang="en-US" sz="1250" dirty="0">
                <a:solidFill>
                  <a:srgbClr val="111111"/>
                </a:solidFill>
                <a:latin typeface="Segoe UI" pitchFamily="34" charset="0"/>
                <a:ea typeface="Segoe UI" pitchFamily="34" charset="-122"/>
                <a:cs typeface="Segoe UI" pitchFamily="34" charset="-120"/>
              </a:rPr>
              <a:t>8. MoHFW, ambulance norms (ALS per 5 lakh, BLS per 1 lakh)</a:t>
            </a:r>
            <a:endParaRPr lang="en-US" sz="1250" dirty="0"/>
          </a:p>
          <a:p>
            <a:pPr indent="0" marL="0">
              <a:spcAft>
                <a:spcPts val="200"/>
              </a:spcAft>
              <a:buNone/>
            </a:pPr>
            <a:r>
              <a:rPr lang="en-US" sz="1050" u="sng" dirty="0">
                <a:solidFill>
                  <a:srgbClr val="2B237C"/>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https://mohfw.gov.in/press-info/8546</a:t>
            </a:r>
            <a:endParaRPr lang="en-US" sz="1250" dirty="0"/>
          </a:p>
        </p:txBody>
      </p:sp>
      <p:sp>
        <p:nvSpPr>
          <p:cNvPr id="5" name="thanks"/>
          <p:cNvSpPr txBox="1"/>
          <p:nvPr/>
        </p:nvSpPr>
        <p:spPr>
          <a:xfrm>
            <a:off x="8001000" y="3291840"/>
            <a:ext cx="3840480" cy="2377440"/>
          </a:xfrm>
          <a:prstGeom prst="rect">
            <a:avLst/>
          </a:prstGeom>
          <a:noFill/>
          <a:ln/>
        </p:spPr>
        <p:txBody>
          <a:bodyPr wrap="square" lIns="0" tIns="0" rIns="0" bIns="0" rtlCol="0" anchor="t"/>
          <a:lstStyle/>
          <a:p>
            <a:pPr indent="0" marL="0">
              <a:spcAft>
                <a:spcPts val="600"/>
              </a:spcAft>
              <a:buNone/>
            </a:pPr>
            <a:r>
              <a:rPr lang="en-US" sz="3600" b="1" dirty="0">
                <a:solidFill>
                  <a:srgbClr val="111111"/>
                </a:solidFill>
                <a:latin typeface="Segoe UI" pitchFamily="34" charset="0"/>
                <a:ea typeface="Segoe UI" pitchFamily="34" charset="-122"/>
                <a:cs typeface="Segoe UI" pitchFamily="34" charset="-120"/>
              </a:rPr>
              <a:t>Thank you</a:t>
            </a:r>
            <a:endParaRPr lang="en-US" sz="3600" dirty="0"/>
          </a:p>
          <a:p>
            <a:pPr indent="0" marL="0">
              <a:spcAft>
                <a:spcPts val="600"/>
              </a:spcAft>
              <a:buNone/>
            </a:pPr>
            <a:r>
              <a:rPr lang="en-US" sz="2600" b="1" dirty="0">
                <a:solidFill>
                  <a:srgbClr val="2B237C"/>
                </a:solidFill>
                <a:latin typeface="Segoe UI" pitchFamily="34" charset="0"/>
                <a:ea typeface="Segoe UI" pitchFamily="34" charset="-122"/>
                <a:cs typeface="Segoe UI" pitchFamily="34" charset="-120"/>
              </a:rPr>
              <a:t>Questions?</a:t>
            </a:r>
            <a:endParaRPr lang="en-US" sz="3600" dirty="0"/>
          </a:p>
          <a:p>
            <a:pPr indent="0" marL="0">
              <a:spcAft>
                <a:spcPts val="600"/>
              </a:spcAft>
              <a:buNone/>
            </a:pPr>
            <a:r>
              <a:rPr lang="en-US" sz="1250" dirty="0">
                <a:solidFill>
                  <a:srgbClr val="111111"/>
                </a:solidFill>
                <a:latin typeface="Segoe UI" pitchFamily="34" charset="0"/>
                <a:ea typeface="Segoe UI" pitchFamily="34" charset="-122"/>
                <a:cs typeface="Segoe UI" pitchFamily="34" charset="-120"/>
              </a:rPr>
              <a:t>Code, reports and IBM hardware results:</a:t>
            </a:r>
            <a:endParaRPr lang="en-US" sz="3600" dirty="0"/>
          </a:p>
          <a:p>
            <a:pPr indent="0" marL="0">
              <a:spcAft>
                <a:spcPts val="600"/>
              </a:spcAft>
              <a:buNone/>
            </a:pPr>
            <a:r>
              <a:rPr lang="en-US" sz="1200" b="1" u="sng" dirty="0">
                <a:solidFill>
                  <a:srgbClr val="2B237C"/>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github.com/gautham-code505/PairCover-Q-</a:t>
            </a:r>
            <a:endParaRPr lang="en-US" sz="3600" dirty="0"/>
          </a:p>
        </p:txBody>
      </p:sp>
    </p:spTree>
  </p:cSld>
  <p:clrMapOvr>
    <a:masterClrMapping/>
  </p:clrMapOvr>
</p:sld>
</file>

<file path=ppt/theme/theme1.xml><?xml version="1.0" encoding="utf-8"?>
<a:theme xmlns:a="http://schemas.openxmlformats.org/drawingml/2006/main" name="Q-HACK India 2026 · PairCover-Q">
  <a:themeElements>
    <a:clrScheme name="Q-HACK India 2026 · PairCover-Q">
      <a:dk1>
        <a:srgbClr val="111111"/>
      </a:dk1>
      <a:lt1>
        <a:srgbClr val="FFFFFF"/>
      </a:lt1>
      <a:dk2>
        <a:srgbClr val="2B237C"/>
      </a:dk2>
      <a:lt2>
        <a:srgbClr val="DFDFDF"/>
      </a:lt2>
      <a:accent1>
        <a:srgbClr val="FF66C4"/>
      </a:accent1>
      <a:accent2>
        <a:srgbClr val="6D28D9"/>
      </a:accent2>
      <a:accent3>
        <a:srgbClr val="2B237C"/>
      </a:accent3>
      <a:accent4>
        <a:srgbClr val="1E9AA8"/>
      </a:accent4>
      <a:accent5>
        <a:srgbClr val="0E8A5F"/>
      </a:accent5>
      <a:accent6>
        <a:srgbClr val="D62839"/>
      </a:accent6>
      <a:hlink>
        <a:srgbClr val="6D28D9"/>
      </a:hlink>
      <a:folHlink>
        <a:srgbClr val="2B237C"/>
      </a:folHlink>
    </a:clrScheme>
    <a:fontScheme name="Q-HACK India 2026 · PairCover-Q">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Team Evric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PairCover-Q: Quantum-Assisted Ambulance Allocation (Q-HACK India 2026, Round 2)</dc:title>
  <dc:subject>PptxGenJS Presentation</dc:subject>
  <dc:creator>Team Evric</dc:creator>
  <cp:lastModifiedBy>Team Evric</cp:lastModifiedBy>
  <cp:revision>1</cp:revision>
  <dcterms:created xsi:type="dcterms:W3CDTF">2026-10-31T05:20:53Z</dcterms:created>
  <dcterms:modified xsi:type="dcterms:W3CDTF">2026-10-31T05:20:53Z</dcterms:modified>
</cp:coreProperties>
</file>