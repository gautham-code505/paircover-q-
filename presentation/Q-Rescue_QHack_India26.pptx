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hyperlink" Target="https://arxiv.org/abs/2211.13080" TargetMode="External"/><Relationship Id="rId4" Type="http://schemas.openxmlformats.org/officeDocument/2006/relationships/hyperlink" Target="https://arxiv.org/abs/2006.05846" TargetMode="External"/><Relationship Id="rId5" Type="http://schemas.openxmlformats.org/officeDocument/2006/relationships/hyperlink" Target="https://doi.org/10.1007/s10729-016-9368-0" TargetMode="External"/><Relationship Id="rId6" Type="http://schemas.openxmlformats.org/officeDocument/2006/relationships/hyperlink" Target="https://doi.org/10.1057/palgrave.jors.2602174" TargetMode="External"/><Relationship Id="rId7" Type="http://schemas.openxmlformats.org/officeDocument/2006/relationships/hyperlink" Target="https://arxiv.org/abs/1811.11538" TargetMode="External"/><Relationship Id="rId8" Type="http://schemas.openxmlformats.org/officeDocument/2006/relationships/hyperlink" Target="https://arxiv.org/abs/1302.5843" TargetMode="External"/><Relationship Id="rId9" Type="http://schemas.openxmlformats.org/officeDocument/2006/relationships/hyperlink" Target="https://doi.org/10.1080/24725854.2020.1802086" TargetMode="External"/><Relationship Id="rId10" Type="http://schemas.openxmlformats.org/officeDocument/2006/relationships/hyperlink" Target="https://hss.iitm.ac.in/ctap/wp-content/uploads/2023/01/108-Final-Report.pdf" TargetMode="External"/><Relationship Id="rId11" Type="http://schemas.openxmlformats.org/officeDocument/2006/relationships/hyperlink" Target="https://www.outlookindia.com/healthcare-spotlight/centre-rolls-out-first-national-framework-to-standardise-ambulance-services" TargetMode="External"/><Relationship Id="rId12" Type="http://schemas.openxmlformats.org/officeDocument/2006/relationships/hyperlink" Target="https://quantum.cloud.ibm.com/docs/en/tutorials/quantum-approximate-optimization-algorithm" TargetMode="External"/><Relationship Id="rId13" Type="http://schemas.openxmlformats.org/officeDocument/2006/relationships/hyperlink" Target="https://www.tnhsp.org/pages/view/108_Applicatio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56000" y="4292600"/>
            <a:ext cx="8128000" cy="584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B1530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73600" y="5245100"/>
            <a:ext cx="7112000" cy="584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B1530"/>
                </a:solidFill>
                <a:latin typeface="Segoe U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3000" y="6134100"/>
            <a:ext cx="9398000" cy="584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B1530"/>
                </a:solidFill>
                <a:latin typeface="Segoe U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7400" y="7848600"/>
            <a:ext cx="11049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B1530"/>
                </a:solidFill>
                <a:latin typeface="Segoe UI"/>
              </a:rPr>
              <a:t>Q-Rescue: PairCover-Q</a:t>
            </a:r>
          </a:p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1B1530"/>
                </a:solidFill>
                <a:latin typeface="Segoe UI"/>
              </a:rPr>
              <a:t>Coverage-aware multi-call ambulance dispatch as a QUBO, solved with QAOA and verified against exact classical optimisation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2946400"/>
            <a:ext cx="7747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B1530"/>
                </a:solidFill>
                <a:latin typeface="Segoe UI"/>
              </a:rPr>
              <a:t>Sending the nearest ambulance to every call can leave a whole zone with no ambulance at 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4165600"/>
            <a:ext cx="7747000" cy="5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95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950" b="1" i="0">
                <a:solidFill>
                  <a:srgbClr val="1B1530"/>
                </a:solidFill>
                <a:latin typeface="Segoe UI"/>
              </a:rPr>
              <a:t>Context. </a:t>
            </a:r>
            <a:r>
              <a:rPr sz="1950" b="0" i="0">
                <a:solidFill>
                  <a:srgbClr val="1B1530"/>
                </a:solidFill>
                <a:latin typeface="Segoe UI"/>
              </a:rPr>
              <a:t>108 dispatch centres assign each emergency to the closest idle unit, one call at a time.</a:t>
            </a:r>
          </a:p>
          <a:p>
            <a:pPr algn="l">
              <a:spcAft>
                <a:spcPts val="1400"/>
              </a:spcAft>
            </a:pPr>
            <a:r>
              <a:rPr sz="195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950" b="1" i="0">
                <a:solidFill>
                  <a:srgbClr val="1B1530"/>
                </a:solidFill>
                <a:latin typeface="Segoe UI"/>
              </a:rPr>
              <a:t>What goes wrong. </a:t>
            </a:r>
            <a:r>
              <a:rPr sz="1950" b="0" i="0">
                <a:solidFill>
                  <a:srgbClr val="1B1530"/>
                </a:solidFill>
                <a:latin typeface="Segoe UI"/>
              </a:rPr>
              <a:t>When several calls arrive together, two ambulances that back each other up can both leave. The zone they shared is then uncovered for the next caller.</a:t>
            </a:r>
          </a:p>
          <a:p>
            <a:pPr algn="l">
              <a:spcAft>
                <a:spcPts val="1400"/>
              </a:spcAft>
            </a:pPr>
            <a:r>
              <a:rPr sz="195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950" b="1" i="0">
                <a:solidFill>
                  <a:srgbClr val="1B1530"/>
                </a:solidFill>
                <a:latin typeface="Segoe UI"/>
              </a:rPr>
              <a:t>Why the usual maths misses it. </a:t>
            </a:r>
            <a:r>
              <a:rPr sz="1950" b="0" i="0">
                <a:solidFill>
                  <a:srgbClr val="1B1530"/>
                </a:solidFill>
                <a:latin typeface="Segoe UI"/>
              </a:rPr>
              <a:t>The damage depends on which </a:t>
            </a:r>
            <a:r>
              <a:rPr sz="1950" b="1" i="0">
                <a:solidFill>
                  <a:srgbClr val="1B1530"/>
                </a:solidFill>
                <a:latin typeface="Segoe UI"/>
              </a:rPr>
              <a:t>pair</a:t>
            </a:r>
            <a:r>
              <a:rPr sz="1950" b="0" i="0">
                <a:solidFill>
                  <a:srgbClr val="1B1530"/>
                </a:solidFill>
                <a:latin typeface="Segoe UI"/>
              </a:rPr>
              <a:t> of units leaves, not on any single unit. A per-ambulance cost cannot express that.</a:t>
            </a:r>
          </a:p>
          <a:p>
            <a:pPr algn="l">
              <a:spcAft>
                <a:spcPts val="1400"/>
              </a:spcAft>
            </a:pPr>
            <a:r>
              <a:rPr sz="195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950" b="1" i="0">
                <a:solidFill>
                  <a:srgbClr val="1B1530"/>
                </a:solidFill>
                <a:latin typeface="Segoe UI"/>
              </a:rPr>
              <a:t>Our question. </a:t>
            </a:r>
            <a:r>
              <a:rPr sz="1950" b="0" i="0">
                <a:solidFill>
                  <a:srgbClr val="1B1530"/>
                </a:solidFill>
                <a:latin typeface="Segoe UI"/>
              </a:rPr>
              <a:t>Can we choose all assignments in one shot so response stays fast and no shared zone is stripped?</a:t>
            </a:r>
          </a:p>
        </p:txBody>
      </p:sp>
      <p:pic>
        <p:nvPicPr>
          <p:cNvPr id="5" name="Picture 4" descr="f_gree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3022600"/>
            <a:ext cx="7239000" cy="42198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71000" y="7467600"/>
            <a:ext cx="7239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4A4560"/>
                </a:solidFill>
                <a:latin typeface="Segoe UI"/>
              </a:rPr>
              <a:t>Our 6-variable test case (synthetic): A1 and A2 are each other's only backup. Greedy sends both, saves 1 minute, and uncovers their zone.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2946400"/>
            <a:ext cx="15849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1530"/>
                </a:solidFill>
                <a:latin typeface="Segoe UI"/>
              </a:rPr>
              <a:t>Who faces it: dispatchers, ambulance crews and the next patient who calls from the zone left empty.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200" y="3733800"/>
            <a:ext cx="3759200" cy="132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97000" y="3835400"/>
            <a:ext cx="34036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5B2BD9"/>
                </a:solidFill>
                <a:latin typeface="Segoe UI"/>
              </a:rPr>
              <a:t>1,237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7000" y="4419600"/>
            <a:ext cx="3403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4A4560"/>
                </a:solidFill>
                <a:latin typeface="Segoe UI"/>
              </a:rPr>
              <a:t>ambulances in Tamil Nadu's 108 fleet (Nov 2021) [8]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32400" y="3733800"/>
            <a:ext cx="3759200" cy="132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10200" y="3835400"/>
            <a:ext cx="34036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5B2BD9"/>
                </a:solidFill>
                <a:latin typeface="Segoe UI"/>
              </a:rPr>
              <a:t>14 min 24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0200" y="4419600"/>
            <a:ext cx="3403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4A4560"/>
                </a:solidFill>
                <a:latin typeface="Segoe UI"/>
              </a:rPr>
              <a:t>statewide average response time, 2020-21 [8]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45600" y="3733800"/>
            <a:ext cx="3759200" cy="132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23400" y="3835400"/>
            <a:ext cx="34036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5B2BD9"/>
                </a:solidFill>
                <a:latin typeface="Segoe UI"/>
              </a:rPr>
              <a:t>June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3400" y="4419600"/>
            <a:ext cx="3403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4A4560"/>
                </a:solidFill>
                <a:latin typeface="Segoe UI"/>
              </a:rPr>
              <a:t>National Ambulance Services guidelines reported to call for data-driven deployment [9]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0" y="3733800"/>
            <a:ext cx="3759200" cy="132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36600" y="3835400"/>
            <a:ext cx="34036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C6283A"/>
                </a:solidFill>
                <a:latin typeface="Segoe UI"/>
              </a:rPr>
              <a:t>-18% / +37%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36600" y="4419600"/>
            <a:ext cx="3403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4A4560"/>
                </a:solidFill>
                <a:latin typeface="Segoe UI"/>
              </a:rPr>
              <a:t>late arrivals vs mean response time under a coverage-aware rule [3]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5359400"/>
            <a:ext cx="9271000" cy="431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5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850" b="1" i="0">
                <a:solidFill>
                  <a:srgbClr val="1B1530"/>
                </a:solidFill>
                <a:latin typeface="Segoe UI"/>
              </a:rPr>
              <a:t>Every dispatch is also a coverage decision. </a:t>
            </a:r>
            <a:r>
              <a:rPr sz="1850" b="0" i="0">
                <a:solidFill>
                  <a:srgbClr val="1B1530"/>
                </a:solidFill>
                <a:latin typeface="Segoe UI"/>
              </a:rPr>
              <a:t>An ambulance on a call is unavailable for roughly an hour; the area it leaves still generates emergencies.</a:t>
            </a:r>
          </a:p>
          <a:p>
            <a:pPr algn="l">
              <a:spcAft>
                <a:spcPts val="1100"/>
              </a:spcAft>
            </a:pPr>
            <a:r>
              <a:rPr sz="185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850" b="1" i="0">
                <a:solidFill>
                  <a:srgbClr val="1B1530"/>
                </a:solidFill>
                <a:latin typeface="Segoe UI"/>
              </a:rPr>
              <a:t>The trade-off is real and measured. </a:t>
            </a:r>
            <a:r>
              <a:rPr sz="1850" b="0" i="0">
                <a:solidFill>
                  <a:srgbClr val="1B1530"/>
                </a:solidFill>
                <a:latin typeface="Segoe UI"/>
              </a:rPr>
              <a:t>In a Dutch region, a coverage-aware rule cut late arrivals by 18% but raised mean response time by 37% [3]. Coverage is not free, so it has to be priced explicitly.</a:t>
            </a:r>
          </a:p>
          <a:p>
            <a:pPr algn="l">
              <a:spcAft>
                <a:spcPts val="1100"/>
              </a:spcAft>
            </a:pPr>
            <a:r>
              <a:rPr sz="185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850" b="1" i="0">
                <a:solidFill>
                  <a:srgbClr val="1B1530"/>
                </a:solidFill>
                <a:latin typeface="Segoe UI"/>
              </a:rPr>
              <a:t>India is moving this way. </a:t>
            </a:r>
            <a:r>
              <a:rPr sz="1850" b="0" i="0">
                <a:solidFill>
                  <a:srgbClr val="1B1530"/>
                </a:solidFill>
                <a:latin typeface="Segoe UI"/>
              </a:rPr>
              <a:t>Press coverage of the 2026 national guidelines describes integrated dispatch centres and deployment driven by call patterns and hotspots [9].</a:t>
            </a:r>
          </a:p>
          <a:p>
            <a:pPr algn="l">
              <a:spcAft>
                <a:spcPts val="1100"/>
              </a:spcAft>
            </a:pPr>
            <a:r>
              <a:rPr sz="185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850" b="1" i="0">
                <a:solidFill>
                  <a:srgbClr val="1B1530"/>
                </a:solidFill>
                <a:latin typeface="Segoe UI"/>
              </a:rPr>
              <a:t>Honest scope. </a:t>
            </a:r>
            <a:r>
              <a:rPr sz="1850" b="0" i="0">
                <a:solidFill>
                  <a:srgbClr val="1B1530"/>
                </a:solidFill>
                <a:latin typeface="Segoe UI"/>
              </a:rPr>
              <a:t>An Indian-city study found dispatch-rule changes alone gave about 1% more served calls [7]. We target a decision-support formulation, not a claim of lives saved.</a:t>
            </a:r>
          </a:p>
        </p:txBody>
      </p:sp>
      <p:pic>
        <p:nvPicPr>
          <p:cNvPr id="17" name="Picture 16" descr="f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0" y="5461000"/>
            <a:ext cx="5080000" cy="3841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2946400"/>
            <a:ext cx="15849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B1530"/>
                </a:solidFill>
                <a:latin typeface="Segoe UI"/>
              </a:rPr>
              <a:t>PairCover-Q: </a:t>
            </a:r>
            <a:r>
              <a:rPr sz="2100" b="0" i="0">
                <a:solidFill>
                  <a:srgbClr val="1B1530"/>
                </a:solidFill>
                <a:latin typeface="Segoe UI"/>
              </a:rPr>
              <a:t>one optimisation that assigns all pending calls together and charges a price when two mutual-backup ambulances leave at once.</a:t>
            </a:r>
          </a:p>
        </p:txBody>
      </p:sp>
      <p:pic>
        <p:nvPicPr>
          <p:cNvPr id="4" name="Picture 3" descr="f_scen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835400"/>
            <a:ext cx="10541000" cy="304057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219200" y="7213600"/>
            <a:ext cx="10541000" cy="116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47800" y="7366000"/>
            <a:ext cx="101600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1530"/>
                </a:solidFill>
                <a:latin typeface="Segoe UI"/>
              </a:rPr>
              <a:t>Minimise  </a:t>
            </a:r>
            <a:r>
              <a:rPr sz="1700" b="1" i="0">
                <a:solidFill>
                  <a:srgbClr val="1B1530"/>
                </a:solidFill>
                <a:latin typeface="Segoe UI"/>
              </a:rPr>
              <a:t>priority-weighted response time  +  unserved-call penalty  +  λ · g₁₂ · D₁ · D₂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B1530"/>
                </a:solidFill>
                <a:latin typeface="Segoe UI"/>
              </a:rPr>
              <a:t>D₁·D₂ = 1 only if both backup units are dispatched. That product is the pairwise coverage term.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41200" y="4597400"/>
            <a:ext cx="4191000" cy="482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5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650" b="1" i="0">
                <a:solidFill>
                  <a:srgbClr val="1B1530"/>
                </a:solidFill>
                <a:latin typeface="Segoe UI"/>
              </a:rPr>
              <a:t>Greedy: cost 22. </a:t>
            </a:r>
            <a:r>
              <a:rPr sz="1650" b="0" i="0">
                <a:solidFill>
                  <a:srgbClr val="1B1530"/>
                </a:solidFill>
                <a:latin typeface="Segoe UI"/>
              </a:rPr>
              <a:t>A1 and A2 both go; shared zone uncovered.</a:t>
            </a:r>
          </a:p>
          <a:p>
            <a:pPr algn="l">
              <a:spcAft>
                <a:spcPts val="1000"/>
              </a:spcAft>
            </a:pPr>
            <a:r>
              <a:rPr sz="165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650" b="1" i="0">
                <a:solidFill>
                  <a:srgbClr val="1B1530"/>
                </a:solidFill>
                <a:latin typeface="Segoe UI"/>
              </a:rPr>
              <a:t>PairCover-Q: cost 13. </a:t>
            </a:r>
            <a:r>
              <a:rPr sz="1650" b="0" i="0">
                <a:solidFill>
                  <a:srgbClr val="1B1530"/>
                </a:solidFill>
                <a:latin typeface="Segoe UI"/>
              </a:rPr>
              <a:t>A3 takes the lower-priority call 1 minute slower; A2 stays to cover the zone.</a:t>
            </a:r>
          </a:p>
          <a:p>
            <a:pPr algn="l">
              <a:spcAft>
                <a:spcPts val="1000"/>
              </a:spcAft>
            </a:pPr>
            <a:r>
              <a:rPr sz="165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650" b="1" i="0">
                <a:solidFill>
                  <a:srgbClr val="1B1530"/>
                </a:solidFill>
                <a:latin typeface="Segoe UI"/>
              </a:rPr>
              <a:t>Safety built in. </a:t>
            </a:r>
            <a:r>
              <a:rPr sz="1650" b="0" i="0">
                <a:solidFill>
                  <a:srgbClr val="1B1530"/>
                </a:solidFill>
                <a:latin typeface="Segoe UI"/>
              </a:rPr>
              <a:t>The critical call C1 is pre-assigned to the nearest unit outside the optimiser, so coverage can never delay a top-priority patient.</a:t>
            </a:r>
          </a:p>
          <a:p>
            <a:pPr algn="l">
              <a:spcAft>
                <a:spcPts val="1000"/>
              </a:spcAft>
            </a:pPr>
            <a:r>
              <a:rPr sz="165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650" b="1" i="0">
                <a:solidFill>
                  <a:srgbClr val="1B1530"/>
                </a:solidFill>
                <a:latin typeface="Segoe UI"/>
              </a:rPr>
              <a:t>Checked, not trusted. </a:t>
            </a:r>
            <a:r>
              <a:rPr sz="1650" b="0" i="0">
                <a:solidFill>
                  <a:srgbClr val="1B1530"/>
                </a:solidFill>
                <a:latin typeface="Segoe UI"/>
              </a:rPr>
              <a:t>Every answer is re-validated from raw tables and compared with the exact optimum.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2946400"/>
            <a:ext cx="8890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1530"/>
                </a:solidFill>
                <a:latin typeface="Segoe UI"/>
              </a:rPr>
              <a:t>The coverage term couples pairs of decisions, which is exactly the structure a QUBO and an Ising Hamiltonian express natively.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4114800"/>
            <a:ext cx="9017000" cy="53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1B1530"/>
                </a:solidFill>
                <a:latin typeface="Segoe UI"/>
              </a:rPr>
              <a:t>Without the pair term this is linear assignment, </a:t>
            </a:r>
            <a:r>
              <a:rPr sz="1800" b="0" i="0">
                <a:solidFill>
                  <a:srgbClr val="1B1530"/>
                </a:solidFill>
                <a:latin typeface="Segoe UI"/>
              </a:rPr>
              <a:t>solved exactly in polynomial time. No quantum method is justified.</a:t>
            </a:r>
          </a:p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1B1530"/>
                </a:solidFill>
                <a:latin typeface="Segoe UI"/>
              </a:rPr>
              <a:t>With it, the objective is genuinely quadratic </a:t>
            </a:r>
            <a:r>
              <a:rPr sz="1800" b="0" i="0">
                <a:solidFill>
                  <a:srgbClr val="1B1530"/>
                </a:solidFill>
                <a:latin typeface="Segoe UI"/>
              </a:rPr>
              <a:t>in binary variables: 6 qubits, one per eligible ambulance-call pair, 11 ZZ couplings, no slack or ancilla qubits.</a:t>
            </a:r>
          </a:p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1B1530"/>
                </a:solidFill>
                <a:latin typeface="Segoe UI"/>
              </a:rPr>
              <a:t>Direct mapping to QAOA. </a:t>
            </a:r>
            <a:r>
              <a:rPr sz="1800" b="0" i="0">
                <a:solidFill>
                  <a:srgbClr val="1B1530"/>
                </a:solidFill>
                <a:latin typeface="Segoe UI"/>
              </a:rPr>
              <a:t>x = (1 - Z)/2 turns the QUBO into a cost Hamiltonian; each coupling becomes one RZZ gate per layer.</a:t>
            </a:r>
          </a:p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1B1530"/>
                </a:solidFill>
                <a:latin typeface="Segoe UI"/>
              </a:rPr>
              <a:t>Quantum is the methodology, not the speed-up. </a:t>
            </a:r>
            <a:r>
              <a:rPr sz="1800" b="0" i="0">
                <a:solidFill>
                  <a:srgbClr val="1B1530"/>
                </a:solidFill>
                <a:latin typeface="Segoe UI"/>
              </a:rPr>
              <a:t>At 6 qubits brute force takes under a millisecond. We claim a verified, quantum-ready formulation and an honest benchmark, not quantum advantage.</a:t>
            </a:r>
          </a:p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1B1530"/>
                </a:solidFill>
                <a:latin typeface="Segoe UI"/>
              </a:rPr>
              <a:t>Why it is worth doing. </a:t>
            </a:r>
            <a:r>
              <a:rPr sz="1800" b="0" i="0">
                <a:solidFill>
                  <a:srgbClr val="1B1530"/>
                </a:solidFill>
                <a:latin typeface="Segoe UI"/>
              </a:rPr>
              <a:t>Pair-coupled problems grow as 2ⁿ; small verified instances are how a formulation earns trust before larger devices.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7200" y="2895600"/>
            <a:ext cx="5461000" cy="533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_qub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3224444"/>
            <a:ext cx="5207000" cy="42191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7747000"/>
            <a:ext cx="5207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1">
                <a:solidFill>
                  <a:srgbClr val="4A4560"/>
                </a:solidFill>
                <a:latin typeface="Segoe UI"/>
              </a:rPr>
              <a:t>QUBO coupling graph of our scenario (from generate_qubo_scenario2)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2870200"/>
            <a:ext cx="1584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50" b="1" i="0">
                <a:solidFill>
                  <a:srgbClr val="1B1530"/>
                </a:solidFill>
                <a:latin typeface="Segoe UI"/>
              </a:rPr>
              <a:t>Hybrid pipeline: classical code builds and checks the problem, a quantum circuit samples it, classical code validates every sample.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200" y="3505200"/>
            <a:ext cx="15849600" cy="332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786" y="3581400"/>
            <a:ext cx="9762426" cy="317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9200" y="7061200"/>
            <a:ext cx="5113866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5B2BD9"/>
                </a:solidFill>
                <a:latin typeface="Segoe UI"/>
              </a:rPr>
              <a:t>Quantum components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B1530"/>
                </a:solidFill>
                <a:latin typeface="Segoe UI"/>
              </a:rPr>
              <a:t>QAOAAnsatz on a SparsePauliOp cost Hamiltonian, X mixer, depth p = 1-2. StatevectorEstimator for &lt;H&gt;, StatevectorSampler for 10,000 shots. Hamiltonian scaled by its largest coefficient (28).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7066" y="7061200"/>
            <a:ext cx="5113866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5B2BD9"/>
                </a:solidFill>
                <a:latin typeface="Segoe UI"/>
              </a:rPr>
              <a:t>Classical components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B1530"/>
                </a:solidFill>
                <a:latin typeface="Segoe UI"/>
              </a:rPr>
              <a:t>QUBO builder, exhaustive solver over all 64 states, greedy baseline, COBYLA optimiser (rhobeg 0.5), uniform-random controls, hard-constraint validator with little-endian decoding.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54933" y="7061200"/>
            <a:ext cx="5113866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5B2BD9"/>
                </a:solidFill>
                <a:latin typeface="Segoe UI"/>
              </a:rPr>
              <a:t>Stack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B1530"/>
                </a:solidFill>
                <a:latin typeface="Segoe UI"/>
              </a:rPr>
              <a:t>Python 3.13, Qiskit 2.5.2, qiskit-aer 0.17.2, SciPy, NumPy, Streamlit 1.65, Plotly, pytest. Pinned requirements.txt; no archived qiskit-optimization dependency.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2870200"/>
            <a:ext cx="1584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50" b="1" i="0">
                <a:solidFill>
                  <a:srgbClr val="1B1530"/>
                </a:solidFill>
                <a:latin typeface="Segoe UI"/>
              </a:rPr>
              <a:t>A working Streamlit console, a runnable notebook and a tested Python package. Everything below is output from our own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200" y="3454400"/>
            <a:ext cx="5930900" cy="345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8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pp_disp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3530600"/>
            <a:ext cx="5778500" cy="330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02500" y="3454400"/>
            <a:ext cx="5930900" cy="345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8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pp_ql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700" y="3530600"/>
            <a:ext cx="5778500" cy="330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19200" y="6934200"/>
            <a:ext cx="5842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1">
                <a:solidFill>
                  <a:srgbClr val="4A4560"/>
                </a:solidFill>
                <a:latin typeface="Segoe UI"/>
              </a:rPr>
              <a:t>Dispatch Console: calls, units, backup-pair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2500" y="6934200"/>
            <a:ext cx="5842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1">
                <a:solidFill>
                  <a:srgbClr val="4A4560"/>
                </a:solidFill>
                <a:latin typeface="Segoe UI"/>
              </a:rPr>
              <a:t>Quantum Lab: live QAOA run, 35 evaluations, 6.8% optimum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12800" y="3505200"/>
            <a:ext cx="2667000" cy="35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5B2BD9"/>
                </a:solidFill>
                <a:latin typeface="Segoe UI"/>
              </a:rPr>
              <a:t>What exists today</a:t>
            </a:r>
          </a:p>
          <a:p>
            <a:pPr algn="l">
              <a:spcAft>
                <a:spcPts val="500"/>
              </a:spcAft>
            </a:pPr>
            <a:r>
              <a:rPr sz="1450" b="0" i="0">
                <a:solidFill>
                  <a:srgbClr val="1B1530"/>
                </a:solidFill>
                <a:latin typeface="Segoe UI"/>
              </a:rPr>
              <a:t>6-qubit QAOA circuit: depth 10, 11 RZZ + 6 RX per layer</a:t>
            </a:r>
          </a:p>
          <a:p>
            <a:pPr algn="l">
              <a:spcAft>
                <a:spcPts val="500"/>
              </a:spcAft>
            </a:pPr>
            <a:r>
              <a:rPr sz="1450" b="0" i="0">
                <a:solidFill>
                  <a:srgbClr val="1B1530"/>
                </a:solidFill>
                <a:latin typeface="Segoe UI"/>
              </a:rPr>
              <a:t>4-view Streamlit console</a:t>
            </a:r>
          </a:p>
          <a:p>
            <a:pPr algn="l">
              <a:spcAft>
                <a:spcPts val="500"/>
              </a:spcAft>
            </a:pPr>
            <a:r>
              <a:rPr sz="1450" b="0" i="0">
                <a:solidFill>
                  <a:srgbClr val="1B1530"/>
                </a:solidFill>
                <a:latin typeface="Segoe UI"/>
              </a:rPr>
              <a:t>Runnable demo notebook</a:t>
            </a:r>
          </a:p>
          <a:p>
            <a:pPr algn="l">
              <a:spcAft>
                <a:spcPts val="500"/>
              </a:spcAft>
            </a:pPr>
            <a:r>
              <a:rPr sz="1450" b="0" i="0">
                <a:solidFill>
                  <a:srgbClr val="1B1530"/>
                </a:solidFill>
                <a:latin typeface="Segoe UI"/>
              </a:rPr>
              <a:t>5- and 6-qubit scenarios</a:t>
            </a:r>
          </a:p>
          <a:p>
            <a:pPr algn="l">
              <a:spcAft>
                <a:spcPts val="500"/>
              </a:spcAft>
            </a:pPr>
            <a:r>
              <a:rPr sz="1450" b="0" i="0">
                <a:solidFill>
                  <a:srgbClr val="1B1530"/>
                </a:solidFill>
                <a:latin typeface="Segoe UI"/>
              </a:rPr>
              <a:t>Audit script, 10,000 shots</a:t>
            </a:r>
          </a:p>
          <a:p>
            <a:pPr algn="l">
              <a:spcAft>
                <a:spcPts val="500"/>
              </a:spcAft>
            </a:pPr>
            <a:r>
              <a:rPr sz="1450" b="0" i="0">
                <a:solidFill>
                  <a:srgbClr val="1B1530"/>
                </a:solidFill>
                <a:latin typeface="Segoe UI"/>
              </a:rPr>
              <a:t>Automated pytest suite</a:t>
            </a:r>
          </a:p>
          <a:p>
            <a:pPr algn="l">
              <a:spcAft>
                <a:spcPts val="500"/>
              </a:spcAft>
            </a:pPr>
            <a:r>
              <a:rPr sz="1450" b="0" i="0">
                <a:solidFill>
                  <a:srgbClr val="1B1530"/>
                </a:solidFill>
                <a:latin typeface="Segoe UI"/>
              </a:rPr>
              <a:t>Public GitHub repository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9200" y="7289800"/>
            <a:ext cx="6604000" cy="2082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ircuit_fu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104" y="7366000"/>
            <a:ext cx="5842191" cy="1930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026400" y="7289800"/>
            <a:ext cx="7924800" cy="2082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_h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5316" y="7366000"/>
            <a:ext cx="5486966" cy="1930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19200" y="9423400"/>
            <a:ext cx="14732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1">
                <a:solidFill>
                  <a:srgbClr val="4A4560"/>
                </a:solidFill>
                <a:latin typeface="Segoe UI"/>
              </a:rPr>
              <a:t>Left: our QAOA circuit as built by Qiskit (p = 1). Right: recorded run, p = 1, seed 10, noiseless statevector simulator.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2844800"/>
            <a:ext cx="1584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1530"/>
                </a:solidFill>
                <a:latin typeface="Segoe UI"/>
              </a:rPr>
              <a:t>Validated: the formulation is exact and coverage-aware dispatch beats greedy. Not shown: any quantum advantage.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200" y="3454400"/>
            <a:ext cx="8890000" cy="363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702" y="3530600"/>
            <a:ext cx="8120994" cy="3479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414000" y="3454400"/>
            <a:ext cx="5969000" cy="363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17200" y="3632200"/>
            <a:ext cx="254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5B2BD9"/>
                </a:solidFill>
                <a:latin typeface="Segoe UI"/>
              </a:rP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08000" y="3632200"/>
            <a:ext cx="203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5B2BD9"/>
                </a:solidFill>
                <a:latin typeface="Segoe UI"/>
              </a:rPr>
              <a:t>Assignment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63800" y="3632200"/>
            <a:ext cx="1016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50" b="1" i="0">
                <a:solidFill>
                  <a:srgbClr val="5B2BD9"/>
                </a:solidFill>
                <a:latin typeface="Segoe UI"/>
              </a:rPr>
              <a:t>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17200" y="4064000"/>
            <a:ext cx="254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0E7A52"/>
                </a:solidFill>
                <a:latin typeface="Segoe UI"/>
              </a:rPr>
              <a:t>Exact coverage-aware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08000" y="4064000"/>
            <a:ext cx="203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0E7A52"/>
                </a:solidFill>
                <a:latin typeface="Segoe UI"/>
              </a:rPr>
              <a:t>A1-C2, A3-C3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63800" y="4064000"/>
            <a:ext cx="1016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50" b="1" i="0">
                <a:solidFill>
                  <a:srgbClr val="0E7A52"/>
                </a:solidFill>
                <a:latin typeface="Segoe UI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17200" y="4495800"/>
            <a:ext cx="254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B1530"/>
                </a:solidFill>
                <a:latin typeface="Segoe UI"/>
              </a:rPr>
              <a:t>Greedy nearest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08000" y="4495800"/>
            <a:ext cx="203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B1530"/>
                </a:solidFill>
                <a:latin typeface="Segoe UI"/>
              </a:rPr>
              <a:t>A1-C2, A2-C3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63800" y="4495800"/>
            <a:ext cx="1016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50" b="0" i="0">
                <a:solidFill>
                  <a:srgbClr val="1B1530"/>
                </a:solidFill>
                <a:latin typeface="Segoe UI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17200" y="4927600"/>
            <a:ext cx="254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B1530"/>
                </a:solidFill>
                <a:latin typeface="Segoe UI"/>
              </a:rPr>
              <a:t>Coverage-free optimum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08000" y="4927600"/>
            <a:ext cx="203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B1530"/>
                </a:solidFill>
                <a:latin typeface="Segoe UI"/>
              </a:rPr>
              <a:t>A1-C2, A2-C3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63800" y="4927600"/>
            <a:ext cx="1016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50" b="0" i="0">
                <a:solidFill>
                  <a:srgbClr val="1B1530"/>
                </a:solidFill>
                <a:latin typeface="Segoe UI"/>
              </a:rPr>
              <a:t>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17200" y="5359400"/>
            <a:ext cx="254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B1530"/>
                </a:solidFill>
                <a:latin typeface="Segoe UI"/>
              </a:rPr>
              <a:t>QAOA best feasible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08000" y="5359400"/>
            <a:ext cx="203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B1530"/>
                </a:solidFill>
                <a:latin typeface="Segoe UI"/>
              </a:rPr>
              <a:t>A1-C2, A3-C3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63800" y="5359400"/>
            <a:ext cx="1016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450" b="0" i="0">
                <a:solidFill>
                  <a:srgbClr val="1B1530"/>
                </a:solidFill>
                <a:latin typeface="Segoe UI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17200" y="5892800"/>
            <a:ext cx="5588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1">
                <a:solidFill>
                  <a:srgbClr val="4A4560"/>
                </a:solidFill>
                <a:latin typeface="Segoe UI"/>
              </a:rPr>
              <a:t>Synthetic 6-qubit scenario; all 64 states enumerated. Cost = weighted response minutes + coverage penalty. QUBO minimum equals the constrained optimum.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200" y="7315200"/>
            <a:ext cx="158496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700" b="1" i="0">
                <a:solidFill>
                  <a:srgbClr val="1B1530"/>
                </a:solidFill>
                <a:latin typeface="Segoe UI"/>
              </a:rPr>
              <a:t>Coverage-aware optimum costs 13 vs 22 for greedy (41% lower) </a:t>
            </a:r>
            <a:r>
              <a:rPr sz="1700" b="0" i="0">
                <a:solidFill>
                  <a:srgbClr val="1B1530"/>
                </a:solidFill>
                <a:latin typeface="Segoe UI"/>
              </a:rPr>
              <a:t>for one extra minute on the lower-priority call.</a:t>
            </a:r>
          </a:p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700" b="1" i="0">
                <a:solidFill>
                  <a:srgbClr val="1B1530"/>
                </a:solidFill>
                <a:latin typeface="Segoe UI"/>
              </a:rPr>
              <a:t>QAOA found the exact optimum in all 4 audited runs; </a:t>
            </a:r>
            <a:r>
              <a:rPr sz="1700" b="0" i="0">
                <a:solidFill>
                  <a:srgbClr val="1B1530"/>
                </a:solidFill>
                <a:latin typeface="Segoe UI"/>
              </a:rPr>
              <a:t>best run: 73.7% feasible samples (random: 20.3%) and 6.93% optimum probability (random: 1.56%).</a:t>
            </a:r>
          </a:p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700" b="1" i="0">
                <a:solidFill>
                  <a:srgbClr val="1B1530"/>
                </a:solidFill>
                <a:latin typeface="Segoe UI"/>
              </a:rPr>
              <a:t>It is seed-sensitive and still below the 7.69% of uniform sampling over feasible states. </a:t>
            </a:r>
            <a:r>
              <a:rPr sz="1700" b="0" i="0">
                <a:solidFill>
                  <a:srgbClr val="1B1530"/>
                </a:solidFill>
                <a:latin typeface="Segoe UI"/>
              </a:rPr>
              <a:t>Two of four runs fell below random. We report that as a finding.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2946400"/>
            <a:ext cx="15849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B1530"/>
                </a:solidFill>
                <a:latin typeface="Segoe UI"/>
              </a:rPr>
              <a:t>Round 2 goal: move from one verified snapshot to evidence over time, larger instances and a real quantum device.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200" y="3657600"/>
            <a:ext cx="15849600" cy="401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_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578" y="3733800"/>
            <a:ext cx="15106842" cy="3860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9200" y="7874000"/>
            <a:ext cx="158496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5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750" b="1" i="0">
                <a:solidFill>
                  <a:srgbClr val="1B1530"/>
                </a:solidFill>
                <a:latin typeface="Segoe UI"/>
              </a:rPr>
              <a:t>Success measure: </a:t>
            </a:r>
            <a:r>
              <a:rPr sz="1750" b="0" i="0">
                <a:solidFill>
                  <a:srgbClr val="1B1530"/>
                </a:solidFill>
                <a:latin typeface="Segoe UI"/>
              </a:rPr>
              <a:t>late-arrival rate and mean response reported together against closest-idle, with the exact solver as reference at every size we can enumerate.</a:t>
            </a:r>
          </a:p>
          <a:p>
            <a:pPr algn="l">
              <a:spcAft>
                <a:spcPts val="800"/>
              </a:spcAft>
            </a:pPr>
            <a:r>
              <a:rPr sz="1750" b="1" i="0">
                <a:solidFill>
                  <a:srgbClr val="5B2BD9"/>
                </a:solidFill>
                <a:latin typeface="Segoe UI"/>
              </a:rPr>
              <a:t>•  </a:t>
            </a:r>
            <a:r>
              <a:rPr sz="1750" b="1" i="0">
                <a:solidFill>
                  <a:srgbClr val="1B1530"/>
                </a:solidFill>
                <a:latin typeface="Segoe UI"/>
              </a:rPr>
              <a:t>Will not claim: </a:t>
            </a:r>
            <a:r>
              <a:rPr sz="1750" b="0" i="0">
                <a:solidFill>
                  <a:srgbClr val="1B1530"/>
                </a:solidFill>
                <a:latin typeface="Segoe UI"/>
              </a:rPr>
              <a:t>real-time deployment, live GPS or traffic, or quantum speed-up, unless the experiments show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2895600"/>
            <a:ext cx="15113000" cy="5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B1530"/>
                </a:solidFill>
                <a:latin typeface="Segoe UI"/>
              </a:rPr>
              <a:t>[1] Cumming &amp; Thomas (2022), Using a quantum computer to solve a real-world problem (ambulance location, QAOA).  </a:t>
            </a:r>
            <a:r>
              <a:rPr sz="1300" b="0" i="0">
                <a:solidFill>
                  <a:srgbClr val="1B1530"/>
                </a:solidFill>
                <a:latin typeface="Segoe UI"/>
                <a:hlinkClick r:id="rId3"/>
              </a:rPr>
              <a:t>arxiv.org/abs/2211.13080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B1530"/>
                </a:solidFill>
                <a:latin typeface="Segoe UI"/>
              </a:rPr>
              <a:t>[2] Chancellor, Cumming &amp; Thomas (2020), Standardized methodology for quantum computing use cases.  </a:t>
            </a:r>
            <a:r>
              <a:rPr sz="1300" b="0" i="0">
                <a:solidFill>
                  <a:srgbClr val="1B1530"/>
                </a:solidFill>
                <a:latin typeface="Segoe UI"/>
                <a:hlinkClick r:id="rId4"/>
              </a:rPr>
              <a:t>arxiv.org/abs/2006.05846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B1530"/>
                </a:solidFill>
                <a:latin typeface="Segoe UI"/>
              </a:rPr>
              <a:t>[3] Jagtenberg, Bhulai &amp; van der Mei (2017), Dynamic ambulance dispatching: is closest-idle always optimal?  </a:t>
            </a:r>
            <a:r>
              <a:rPr sz="1300" b="0" i="0">
                <a:solidFill>
                  <a:srgbClr val="1B1530"/>
                </a:solidFill>
                <a:latin typeface="Segoe UI"/>
                <a:hlinkClick r:id="rId5"/>
              </a:rPr>
              <a:t>doi.org/10.1007/s10729-016-9368-0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B1530"/>
                </a:solidFill>
                <a:latin typeface="Segoe UI"/>
              </a:rPr>
              <a:t>[4] Andersson &amp; Värbrand (2007), Decision support tools for ambulance dispatch and relocation.  </a:t>
            </a:r>
            <a:r>
              <a:rPr sz="1300" b="0" i="0">
                <a:solidFill>
                  <a:srgbClr val="1B1530"/>
                </a:solidFill>
                <a:latin typeface="Segoe UI"/>
                <a:hlinkClick r:id="rId6"/>
              </a:rPr>
              <a:t>doi.org/10.1057/palgrave.jors.2602174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B1530"/>
                </a:solidFill>
                <a:latin typeface="Segoe UI"/>
              </a:rPr>
              <a:t>[5] Glover, Kochenberger &amp; Du (2018), A tutorial on formulating and using QUBO models.  </a:t>
            </a:r>
            <a:r>
              <a:rPr sz="1300" b="0" i="0">
                <a:solidFill>
                  <a:srgbClr val="1B1530"/>
                </a:solidFill>
                <a:latin typeface="Segoe UI"/>
                <a:hlinkClick r:id="rId7"/>
              </a:rPr>
              <a:t>arxiv.org/abs/1811.11538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B1530"/>
                </a:solidFill>
                <a:latin typeface="Segoe UI"/>
              </a:rPr>
              <a:t>[6] Lucas (2014), Ising formulations of many NP problems.  </a:t>
            </a:r>
            <a:r>
              <a:rPr sz="1300" b="0" i="0">
                <a:solidFill>
                  <a:srgbClr val="1B1530"/>
                </a:solidFill>
                <a:latin typeface="Segoe UI"/>
                <a:hlinkClick r:id="rId8"/>
              </a:rPr>
              <a:t>arxiv.org/abs/1302.5843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B1530"/>
                </a:solidFill>
                <a:latin typeface="Segoe UI"/>
              </a:rPr>
              <a:t>[7] Marla, Krishnan &amp; Deo (2021), Managing EMS vehicle operations in an Indian city, IISE Transactions.  </a:t>
            </a:r>
            <a:r>
              <a:rPr sz="1300" b="0" i="0">
                <a:solidFill>
                  <a:srgbClr val="1B1530"/>
                </a:solidFill>
                <a:latin typeface="Segoe UI"/>
                <a:hlinkClick r:id="rId9"/>
              </a:rPr>
              <a:t>doi.org/10.1080/24725854.2020.1802086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B1530"/>
                </a:solidFill>
                <a:latin typeface="Segoe UI"/>
              </a:rPr>
              <a:t>[8] MCC / TNHSRP (2022), 108 ambulance services in Tamil Nadu: report.  </a:t>
            </a:r>
            <a:r>
              <a:rPr sz="1300" b="0" i="0">
                <a:solidFill>
                  <a:srgbClr val="1B1530"/>
                </a:solidFill>
                <a:latin typeface="Segoe UI"/>
                <a:hlinkClick r:id="rId10"/>
              </a:rPr>
              <a:t>hss.iitm.ac.in/ctap/wp-content/uploads/2023/01/108-Final-Report.pdf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B1530"/>
                </a:solidFill>
                <a:latin typeface="Segoe UI"/>
              </a:rPr>
              <a:t>[9] Outlook India (2026), Centre rolls out national framework to standardise ambulance services (press report).  </a:t>
            </a:r>
            <a:r>
              <a:rPr sz="1300" b="0" i="0">
                <a:solidFill>
                  <a:srgbClr val="1B1530"/>
                </a:solidFill>
                <a:latin typeface="Segoe UI"/>
                <a:hlinkClick r:id="rId11"/>
              </a:rPr>
              <a:t>www.outlookindia.com/healthcare-spotlight/centre-rolls-out-first-national-framework-to-standardise-ambulance-services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B1530"/>
                </a:solidFill>
                <a:latin typeface="Segoe UI"/>
              </a:rPr>
              <a:t>[10] IBM Quantum, QAOA tutorial and bit-ordering guide (Qiskit 2.x).  </a:t>
            </a:r>
            <a:r>
              <a:rPr sz="1300" b="0" i="0">
                <a:solidFill>
                  <a:srgbClr val="1B1530"/>
                </a:solidFill>
                <a:latin typeface="Segoe UI"/>
                <a:hlinkClick r:id="rId12"/>
              </a:rPr>
              <a:t>quantum.cloud.ibm.com/docs/en/tutorials/quantum-approximate-optimization-algorithm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B1530"/>
                </a:solidFill>
                <a:latin typeface="Segoe UI"/>
              </a:rPr>
              <a:t>[11] TNHSP, 108 Ambulance research dataset request page (not used in Round 1; all data synthetic).  </a:t>
            </a:r>
            <a:r>
              <a:rPr sz="1300" b="0" i="0">
                <a:solidFill>
                  <a:srgbClr val="1B1530"/>
                </a:solidFill>
                <a:latin typeface="Segoe UI"/>
                <a:hlinkClick r:id="rId13"/>
              </a:rPr>
              <a:t>www.tnhsp.org/pages/view/108_Application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8280400"/>
            <a:ext cx="151130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1B1530"/>
                </a:solidFill>
                <a:latin typeface="Segoe UI"/>
              </a:rPr>
              <a:t>Acknowledgement. </a:t>
            </a:r>
            <a:r>
              <a:rPr sz="1550" b="0" i="0">
                <a:solidFill>
                  <a:srgbClr val="1B1530"/>
                </a:solidFill>
                <a:latin typeface="Segoe UI"/>
              </a:rPr>
              <a:t>Inspired by the coverage-aware dispatch idea in [2-4] and the ambulance QUBO of [1]. The pairwise assignment formulation, code, tests and experiments are our own work; the repository is not a fork. Scenario data is synthetic. Results are from a noiseless simulator.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